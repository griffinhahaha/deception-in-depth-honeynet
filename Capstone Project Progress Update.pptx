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media/image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2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embeddedFontLst>
    <p:embeddedFont>
      <p:font typeface="Liter" panose="02000503030000020004" pitchFamily="34" charset="0"/>
      <p:regular r:id="rId20"/>
    </p:embeddedFont>
    <p:embeddedFont>
      <p:font typeface="Liter" panose="02000503030000020004" pitchFamily="34" charset="-122"/>
      <p:regular r:id="rId21"/>
    </p:embeddedFont>
    <p:embeddedFont>
      <p:font typeface="Liter" panose="02000503030000020004" pitchFamily="34" charset="-12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dribbble.com/25162fccc5177007d0a6a97c3a7f4318f2be5631.png"/>
          <p:cNvPicPr>
            <a:picLocks noChangeAspect="1"/>
          </p:cNvPicPr>
          <p:nvPr/>
        </p:nvPicPr>
        <p:blipFill>
          <a:blip r:embed="rId1">
            <a:alphaModFix amt="30000"/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5763" y="1223963"/>
            <a:ext cx="2457450" cy="390525"/>
          </a:xfrm>
          <a:prstGeom prst="roundRect">
            <a:avLst>
              <a:gd name="adj" fmla="val 19512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309688"/>
            <a:ext cx="2215158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 4 PROGRESS UPDATE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47850"/>
            <a:ext cx="8820150" cy="142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Capstone Project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Progress Update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429000"/>
            <a:ext cx="914400" cy="38100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8" name="Text 5"/>
          <p:cNvSpPr/>
          <p:nvPr/>
        </p:nvSpPr>
        <p:spPr>
          <a:xfrm>
            <a:off x="381000" y="3695700"/>
            <a:ext cx="74295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Design and Evaluation of a Deception-in-Depth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Honeynet Architecture for Observing Multi-Stage Attacker Behaviour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5763" y="5586413"/>
            <a:ext cx="3648075" cy="885825"/>
          </a:xfrm>
          <a:prstGeom prst="roundRect">
            <a:avLst>
              <a:gd name="adj" fmla="val 8602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8644" y="57626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11" name="Text 8"/>
          <p:cNvSpPr/>
          <p:nvPr/>
        </p:nvSpPr>
        <p:spPr>
          <a:xfrm>
            <a:off x="895350" y="5743575"/>
            <a:ext cx="561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Mentor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2925" y="6048375"/>
            <a:ext cx="3419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Dr. Ho Chen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71963" y="5586413"/>
            <a:ext cx="3648075" cy="885825"/>
          </a:xfrm>
          <a:prstGeom prst="roundRect">
            <a:avLst>
              <a:gd name="adj" fmla="val 8602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29125" y="57626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6366F1"/>
          </a:solidFill>
        </p:spPr>
      </p:sp>
      <p:sp>
        <p:nvSpPr>
          <p:cNvPr id="15" name="Text 12"/>
          <p:cNvSpPr/>
          <p:nvPr/>
        </p:nvSpPr>
        <p:spPr>
          <a:xfrm>
            <a:off x="4781550" y="5743575"/>
            <a:ext cx="1133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29125" y="6048375"/>
            <a:ext cx="3419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 Students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58163" y="5586413"/>
            <a:ext cx="3648075" cy="885825"/>
          </a:xfrm>
          <a:prstGeom prst="roundRect">
            <a:avLst>
              <a:gd name="adj" fmla="val 8602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51044" y="57626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19" name="Text 16"/>
          <p:cNvSpPr/>
          <p:nvPr/>
        </p:nvSpPr>
        <p:spPr>
          <a:xfrm>
            <a:off x="8667750" y="5743575"/>
            <a:ext cx="647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Timeline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15325" y="6048375"/>
            <a:ext cx="3419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 4 of 12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MEETING 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What We'll Cover Today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762000" cy="38100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5" name="Shape 3"/>
          <p:cNvSpPr/>
          <p:nvPr/>
        </p:nvSpPr>
        <p:spPr>
          <a:xfrm>
            <a:off x="385763" y="1795463"/>
            <a:ext cx="5553075" cy="1038225"/>
          </a:xfrm>
          <a:prstGeom prst="roundRect">
            <a:avLst>
              <a:gd name="adj" fmla="val 7339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202882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67135" y="2143125"/>
            <a:ext cx="3524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4925" y="2028825"/>
            <a:ext cx="3248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4925" y="2371725"/>
            <a:ext cx="3228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Research objectives, questions, and hypothesis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3163" y="1795463"/>
            <a:ext cx="5553075" cy="1038225"/>
          </a:xfrm>
          <a:prstGeom prst="roundRect">
            <a:avLst>
              <a:gd name="adj" fmla="val 7339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86525" y="202882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613847" y="2143125"/>
            <a:ext cx="390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2325" y="2028825"/>
            <a:ext cx="2819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Completed Milestones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2325" y="2371725"/>
            <a:ext cx="2800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 1-4 deliverables and achievements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3071813"/>
            <a:ext cx="5553075" cy="1038225"/>
          </a:xfrm>
          <a:prstGeom prst="roundRect">
            <a:avLst>
              <a:gd name="adj" fmla="val 7339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125" y="330517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745406" y="3419475"/>
            <a:ext cx="390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04925" y="3305175"/>
            <a:ext cx="3048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Progress Summary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04925" y="3648075"/>
            <a:ext cx="3028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Metrics, timeline status, and completion rate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3163" y="3071813"/>
            <a:ext cx="5553075" cy="1038225"/>
          </a:xfrm>
          <a:prstGeom prst="roundRect">
            <a:avLst>
              <a:gd name="adj" fmla="val 7339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86525" y="330517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6612954" y="3419475"/>
            <a:ext cx="390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2325" y="3305175"/>
            <a:ext cx="2581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72325" y="3648075"/>
            <a:ext cx="2562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Three-layer deception system design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763" y="4348163"/>
            <a:ext cx="5553075" cy="1038225"/>
          </a:xfrm>
          <a:prstGeom prst="roundRect">
            <a:avLst>
              <a:gd name="adj" fmla="val 7339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125" y="458152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747043" y="4695825"/>
            <a:ext cx="390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04925" y="4581525"/>
            <a:ext cx="2085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Upcoming Milestones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04925" y="4924425"/>
            <a:ext cx="2066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 5-12 plan and deadlines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53163" y="4348163"/>
            <a:ext cx="5553075" cy="1038225"/>
          </a:xfrm>
          <a:prstGeom prst="roundRect">
            <a:avLst>
              <a:gd name="adj" fmla="val 7339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86525" y="458152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6611913" y="4695825"/>
            <a:ext cx="400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2325" y="4581525"/>
            <a:ext cx="2381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72325" y="492442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risks and mitigation strategies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What We're Building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5" name="Shape 3"/>
          <p:cNvSpPr/>
          <p:nvPr/>
        </p:nvSpPr>
        <p:spPr>
          <a:xfrm>
            <a:off x="385763" y="1452563"/>
            <a:ext cx="6753225" cy="1266825"/>
          </a:xfrm>
          <a:prstGeom prst="roundRect">
            <a:avLst>
              <a:gd name="adj" fmla="val 6015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4838" y="16859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7" name="Text 5"/>
          <p:cNvSpPr/>
          <p:nvPr/>
        </p:nvSpPr>
        <p:spPr>
          <a:xfrm>
            <a:off x="819150" y="1647825"/>
            <a:ext cx="6219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Primary 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2028825"/>
            <a:ext cx="6438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Design, implement, and evaluate a </a:t>
            </a:r>
            <a:r>
              <a:rPr lang="en-US" sz="1200" dirty="0">
                <a:solidFill>
                  <a:srgbClr val="6366F1"/>
                </a:solidFill>
                <a:highlight>
                  <a:srgbClr val="6366F1">
                    <a:alpha val="20000"/>
                  </a:srgbClr>
                </a:highligh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layered Deception-in-Depth honeynet architecture </a:t>
            </a:r>
            <a:r>
              <a:rPr lang="en-US" sz="12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capable of observing multi-stage attacker behaviour across network, host, and data layers.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919413"/>
            <a:ext cx="6753225" cy="1514475"/>
          </a:xfrm>
          <a:prstGeom prst="roundRect">
            <a:avLst>
              <a:gd name="adj" fmla="val 5031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6744" y="31527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11" name="Text 9"/>
          <p:cNvSpPr/>
          <p:nvPr/>
        </p:nvSpPr>
        <p:spPr>
          <a:xfrm>
            <a:off x="819150" y="3114675"/>
            <a:ext cx="6219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Experimental Approach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1025" y="3495675"/>
            <a:ext cx="64389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Deploy a controlled virtual environment on </a:t>
            </a:r>
            <a:r>
              <a:rPr lang="en-US" sz="12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Proxmox VE</a:t>
            </a:r>
            <a:r>
              <a:rPr lang="en-US" sz="12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with 5-6 VMs simulating a small enterprise network. Observe attacker interactions and measure behavioural impact using three key metrics.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5763" y="4633913"/>
            <a:ext cx="6753225" cy="1838325"/>
          </a:xfrm>
          <a:prstGeom prst="roundRect">
            <a:avLst>
              <a:gd name="adj" fmla="val 4145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4838" y="48672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6366F1"/>
          </a:solidFill>
        </p:spPr>
      </p:sp>
      <p:sp>
        <p:nvSpPr>
          <p:cNvPr id="15" name="Text 13"/>
          <p:cNvSpPr/>
          <p:nvPr/>
        </p:nvSpPr>
        <p:spPr>
          <a:xfrm>
            <a:off x="819150" y="4829175"/>
            <a:ext cx="6219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Behavioural Metrics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1025" y="5210175"/>
            <a:ext cx="2047875" cy="1066800"/>
          </a:xfrm>
          <a:prstGeom prst="roundRect">
            <a:avLst>
              <a:gd name="adj" fmla="val 7143"/>
            </a:avLst>
          </a:prstGeom>
          <a:solidFill>
            <a:srgbClr val="191919"/>
          </a:solidFill>
        </p:spPr>
      </p:sp>
      <p:sp>
        <p:nvSpPr>
          <p:cNvPr id="17" name="Text 15"/>
          <p:cNvSpPr/>
          <p:nvPr/>
        </p:nvSpPr>
        <p:spPr>
          <a:xfrm>
            <a:off x="623888" y="5324475"/>
            <a:ext cx="1962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7225" y="5705475"/>
            <a:ext cx="1895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Misdirection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988" y="5972175"/>
            <a:ext cx="1885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Decoy interactions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41265" y="5210175"/>
            <a:ext cx="2047875" cy="1066800"/>
          </a:xfrm>
          <a:prstGeom prst="roundRect">
            <a:avLst>
              <a:gd name="adj" fmla="val 7143"/>
            </a:avLst>
          </a:prstGeom>
          <a:solidFill>
            <a:srgbClr val="191919"/>
          </a:solidFill>
        </p:spPr>
      </p:sp>
      <p:sp>
        <p:nvSpPr>
          <p:cNvPr id="21" name="Text 19"/>
          <p:cNvSpPr/>
          <p:nvPr/>
        </p:nvSpPr>
        <p:spPr>
          <a:xfrm>
            <a:off x="2784128" y="5324475"/>
            <a:ext cx="1962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17465" y="5705475"/>
            <a:ext cx="1895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Delay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22228" y="5972175"/>
            <a:ext cx="1885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 spent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01505" y="5210175"/>
            <a:ext cx="2047875" cy="1066800"/>
          </a:xfrm>
          <a:prstGeom prst="roundRect">
            <a:avLst>
              <a:gd name="adj" fmla="val 7143"/>
            </a:avLst>
          </a:prstGeom>
          <a:solidFill>
            <a:srgbClr val="191919"/>
          </a:solidFill>
        </p:spPr>
      </p:sp>
      <p:sp>
        <p:nvSpPr>
          <p:cNvPr id="25" name="Text 23"/>
          <p:cNvSpPr/>
          <p:nvPr/>
        </p:nvSpPr>
        <p:spPr>
          <a:xfrm>
            <a:off x="4944368" y="5324475"/>
            <a:ext cx="1962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77705" y="5705475"/>
            <a:ext cx="1895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Engagement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82468" y="5972175"/>
            <a:ext cx="1885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Depth reached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80908" y="1452563"/>
            <a:ext cx="4429125" cy="5019675"/>
          </a:xfrm>
          <a:prstGeom prst="roundRect">
            <a:avLst>
              <a:gd name="adj" fmla="val 1720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76170" y="1647825"/>
            <a:ext cx="4133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Three Deception Layers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95220" y="2149450"/>
            <a:ext cx="4019550" cy="876300"/>
          </a:xfrm>
          <a:custGeom>
            <a:avLst/>
            <a:gdLst/>
            <a:ahLst/>
            <a:cxnLst/>
            <a:rect l="l" t="t" r="r" b="b"/>
            <a:pathLst>
              <a:path w="4019550" h="876300">
                <a:moveTo>
                  <a:pt x="0" y="0"/>
                </a:moveTo>
                <a:lnTo>
                  <a:pt x="3943350" y="0"/>
                </a:lnTo>
                <a:cubicBezTo>
                  <a:pt x="3985406" y="0"/>
                  <a:pt x="4019550" y="34144"/>
                  <a:pt x="4019550" y="76200"/>
                </a:cubicBezTo>
                <a:lnTo>
                  <a:pt x="4019550" y="800100"/>
                </a:lnTo>
                <a:cubicBezTo>
                  <a:pt x="4019550" y="842156"/>
                  <a:pt x="3985406" y="876300"/>
                  <a:pt x="3943350" y="876300"/>
                </a:cubicBez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191919"/>
          </a:solidFill>
        </p:spPr>
      </p:sp>
      <p:sp>
        <p:nvSpPr>
          <p:cNvPr id="31" name="Shape 29"/>
          <p:cNvSpPr/>
          <p:nvPr/>
        </p:nvSpPr>
        <p:spPr>
          <a:xfrm>
            <a:off x="7595220" y="2149450"/>
            <a:ext cx="38100" cy="876300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32" name="Text 30"/>
          <p:cNvSpPr/>
          <p:nvPr/>
        </p:nvSpPr>
        <p:spPr>
          <a:xfrm>
            <a:off x="7766670" y="2301850"/>
            <a:ext cx="609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Layer 1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803136" y="2301850"/>
            <a:ext cx="657225" cy="266700"/>
          </a:xfrm>
          <a:prstGeom prst="roundRect">
            <a:avLst>
              <a:gd name="adj" fmla="val 14286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10803136" y="2301850"/>
            <a:ext cx="72390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Network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66670" y="2644750"/>
            <a:ext cx="3771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T-Pot CE honeypot services (SSH, HTTP, SMB)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95220" y="3305175"/>
            <a:ext cx="4019550" cy="876300"/>
          </a:xfrm>
          <a:custGeom>
            <a:avLst/>
            <a:gdLst/>
            <a:ahLst/>
            <a:cxnLst/>
            <a:rect l="l" t="t" r="r" b="b"/>
            <a:pathLst>
              <a:path w="4019550" h="876300">
                <a:moveTo>
                  <a:pt x="0" y="0"/>
                </a:moveTo>
                <a:lnTo>
                  <a:pt x="3943350" y="0"/>
                </a:lnTo>
                <a:cubicBezTo>
                  <a:pt x="3985406" y="0"/>
                  <a:pt x="4019550" y="34144"/>
                  <a:pt x="4019550" y="76200"/>
                </a:cubicBezTo>
                <a:lnTo>
                  <a:pt x="4019550" y="800100"/>
                </a:lnTo>
                <a:cubicBezTo>
                  <a:pt x="4019550" y="842156"/>
                  <a:pt x="3985406" y="876300"/>
                  <a:pt x="3943350" y="876300"/>
                </a:cubicBez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191919"/>
          </a:solidFill>
        </p:spPr>
      </p:sp>
      <p:sp>
        <p:nvSpPr>
          <p:cNvPr id="37" name="Shape 35"/>
          <p:cNvSpPr/>
          <p:nvPr/>
        </p:nvSpPr>
        <p:spPr>
          <a:xfrm>
            <a:off x="7595220" y="3305175"/>
            <a:ext cx="38100" cy="876300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38" name="Text 36"/>
          <p:cNvSpPr/>
          <p:nvPr/>
        </p:nvSpPr>
        <p:spPr>
          <a:xfrm>
            <a:off x="7766670" y="3457575"/>
            <a:ext cx="638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Layer 2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023699" y="3457575"/>
            <a:ext cx="438150" cy="266700"/>
          </a:xfrm>
          <a:prstGeom prst="roundRect">
            <a:avLst>
              <a:gd name="adj" fmla="val 14286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11023699" y="3457575"/>
            <a:ext cx="50482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Host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766670" y="3800475"/>
            <a:ext cx="3771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GOAD Active Directory + Windows enterprise hosts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95220" y="4460825"/>
            <a:ext cx="4019550" cy="876300"/>
          </a:xfrm>
          <a:custGeom>
            <a:avLst/>
            <a:gdLst/>
            <a:ahLst/>
            <a:cxnLst/>
            <a:rect l="l" t="t" r="r" b="b"/>
            <a:pathLst>
              <a:path w="4019550" h="876300">
                <a:moveTo>
                  <a:pt x="0" y="0"/>
                </a:moveTo>
                <a:lnTo>
                  <a:pt x="3943350" y="0"/>
                </a:lnTo>
                <a:cubicBezTo>
                  <a:pt x="3985406" y="0"/>
                  <a:pt x="4019550" y="34144"/>
                  <a:pt x="4019550" y="76200"/>
                </a:cubicBezTo>
                <a:lnTo>
                  <a:pt x="4019550" y="800100"/>
                </a:lnTo>
                <a:cubicBezTo>
                  <a:pt x="4019550" y="842156"/>
                  <a:pt x="3985406" y="876300"/>
                  <a:pt x="3943350" y="876300"/>
                </a:cubicBez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191919"/>
          </a:solidFill>
        </p:spPr>
      </p:sp>
      <p:sp>
        <p:nvSpPr>
          <p:cNvPr id="43" name="Shape 41"/>
          <p:cNvSpPr/>
          <p:nvPr/>
        </p:nvSpPr>
        <p:spPr>
          <a:xfrm>
            <a:off x="7595220" y="4460825"/>
            <a:ext cx="38100" cy="876300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44" name="Text 42"/>
          <p:cNvSpPr/>
          <p:nvPr/>
        </p:nvSpPr>
        <p:spPr>
          <a:xfrm>
            <a:off x="7766670" y="4613225"/>
            <a:ext cx="647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Layer 3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031438" y="4613225"/>
            <a:ext cx="428625" cy="266700"/>
          </a:xfrm>
          <a:prstGeom prst="roundRect">
            <a:avLst>
              <a:gd name="adj" fmla="val 14286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11031438" y="4613225"/>
            <a:ext cx="49530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766670" y="4956125"/>
            <a:ext cx="3771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HoneyLambda + decoy S3 cloud credentials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80933" y="5576888"/>
            <a:ext cx="4029075" cy="695325"/>
          </a:xfrm>
          <a:prstGeom prst="roundRect">
            <a:avLst>
              <a:gd name="adj" fmla="val 10959"/>
            </a:avLst>
          </a:prstGeom>
          <a:solidFill>
            <a:srgbClr val="6366F1">
              <a:alpha val="10196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19045" y="57292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50" name="Text 48"/>
          <p:cNvSpPr/>
          <p:nvPr/>
        </p:nvSpPr>
        <p:spPr>
          <a:xfrm>
            <a:off x="7947645" y="5695950"/>
            <a:ext cx="3619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Deception Control Plane:</a:t>
            </a:r>
            <a:r>
              <a:rPr lang="en-US" sz="12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Staged activation based on attacker actions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RESEARCH FRAMEWORK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Research Questions &amp; Hypothesis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5" name="Shape 3"/>
          <p:cNvSpPr/>
          <p:nvPr/>
        </p:nvSpPr>
        <p:spPr>
          <a:xfrm>
            <a:off x="385763" y="1414463"/>
            <a:ext cx="5591175" cy="1076325"/>
          </a:xfrm>
          <a:prstGeom prst="roundRect">
            <a:avLst>
              <a:gd name="adj" fmla="val 7080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5716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600224" y="1647825"/>
            <a:ext cx="342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RQ1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8225" y="1571625"/>
            <a:ext cx="4867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Attacker Navigation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8225" y="1876425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How does layered deception influence attacker navigation within the honeynet?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2614613"/>
            <a:ext cx="5591175" cy="847725"/>
          </a:xfrm>
          <a:prstGeom prst="roundRect">
            <a:avLst>
              <a:gd name="adj" fmla="val 8989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2925" y="27717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586383" y="2847975"/>
            <a:ext cx="371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RQ2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38225" y="2771775"/>
            <a:ext cx="4562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Decision Influence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38225" y="3076575"/>
            <a:ext cx="4552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 what extent do deception artifacts influence attacker decisions?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3586163"/>
            <a:ext cx="5591175" cy="847725"/>
          </a:xfrm>
          <a:prstGeom prst="roundRect">
            <a:avLst>
              <a:gd name="adj" fmla="val 8989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2925" y="37433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585713" y="3819525"/>
            <a:ext cx="371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RQ3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38225" y="3743325"/>
            <a:ext cx="4476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Engagement Depth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38225" y="4048125"/>
            <a:ext cx="4467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Does staged activation of deception layers increase engagement?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4557713"/>
            <a:ext cx="5591175" cy="847725"/>
          </a:xfrm>
          <a:prstGeom prst="roundRect">
            <a:avLst>
              <a:gd name="adj" fmla="val 8989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2925" y="47148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585788" y="4791075"/>
            <a:ext cx="371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RQ4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38225" y="4714875"/>
            <a:ext cx="4686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 Impact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38225" y="5019675"/>
            <a:ext cx="4676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How does layered deception affect time attackers spend interacting?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763" y="5529263"/>
            <a:ext cx="5591175" cy="847725"/>
          </a:xfrm>
          <a:prstGeom prst="roundRect">
            <a:avLst>
              <a:gd name="adj" fmla="val 8989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2925" y="56864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586755" y="5762625"/>
            <a:ext cx="371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RQ5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8225" y="5686425"/>
            <a:ext cx="4676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Activity Patterns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38225" y="5991225"/>
            <a:ext cx="4667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What activities are observed across different attack lifecycle stages?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5063" y="1414463"/>
            <a:ext cx="5591175" cy="3038475"/>
          </a:xfrm>
          <a:prstGeom prst="roundRect">
            <a:avLst>
              <a:gd name="adj" fmla="val 2508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05575" y="16859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32" name="Text 30"/>
          <p:cNvSpPr/>
          <p:nvPr/>
        </p:nvSpPr>
        <p:spPr>
          <a:xfrm>
            <a:off x="6848475" y="1647825"/>
            <a:ext cx="20383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Central Hypothesis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48425" y="2105025"/>
            <a:ext cx="5210175" cy="83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 staged </a:t>
            </a:r>
            <a:r>
              <a:rPr lang="en-US" sz="1350" dirty="0">
                <a:solidFill>
                  <a:srgbClr val="6366F1"/>
                </a:solidFill>
                <a:highlight>
                  <a:srgbClr val="6366F1">
                    <a:alpha val="30000"/>
                  </a:srgbClr>
                </a:highligh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Deception-in-Depth architecture </a:t>
            </a:r>
            <a:r>
              <a:rPr lang="en-US" sz="135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will encourage attackers to interact more extensively with deceptive assets and explore more layers than a single-layer honeypot.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67475" y="31313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35" name="Text 33"/>
          <p:cNvSpPr/>
          <p:nvPr/>
        </p:nvSpPr>
        <p:spPr>
          <a:xfrm>
            <a:off x="6753225" y="3093244"/>
            <a:ext cx="3400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Increase engagement depth across multiple hosts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67475" y="34742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37" name="Text 35"/>
          <p:cNvSpPr/>
          <p:nvPr/>
        </p:nvSpPr>
        <p:spPr>
          <a:xfrm>
            <a:off x="6753225" y="3436144"/>
            <a:ext cx="3152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Influence attacker navigation through artifacts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67475" y="38171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39" name="Text 37"/>
          <p:cNvSpPr/>
          <p:nvPr/>
        </p:nvSpPr>
        <p:spPr>
          <a:xfrm>
            <a:off x="6753225" y="3779044"/>
            <a:ext cx="2752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Introduce delays in attacker progression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5063" y="4652963"/>
            <a:ext cx="5591175" cy="1724025"/>
          </a:xfrm>
          <a:prstGeom prst="roundRect">
            <a:avLst>
              <a:gd name="adj" fmla="val 4420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0325" y="4848225"/>
            <a:ext cx="5286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MITRE ATT&amp;CK Mapping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10325" y="5229225"/>
            <a:ext cx="5276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Observed activities mapped to structured tactics: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10325" y="5572125"/>
            <a:ext cx="1190625" cy="26670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6410325" y="5572125"/>
            <a:ext cx="125730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Reconnaissance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673653" y="5572125"/>
            <a:ext cx="1295400" cy="26670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7673653" y="5572125"/>
            <a:ext cx="13620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Credential Access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44880" y="5572125"/>
            <a:ext cx="1295400" cy="26670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9044880" y="5572125"/>
            <a:ext cx="13620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Lateral Movement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415290" y="5572125"/>
            <a:ext cx="828675" cy="26670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10415290" y="5572125"/>
            <a:ext cx="89535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Collection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10325" y="5915025"/>
            <a:ext cx="866775" cy="26670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6410325" y="5915025"/>
            <a:ext cx="93345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Exfiltration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850" y="374850"/>
            <a:ext cx="11517270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kern="0" spc="59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TECHNICAL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4850" y="674730"/>
            <a:ext cx="11610982" cy="374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Three-Layer Deception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4850" y="1162035"/>
            <a:ext cx="749700" cy="37485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5" name="Shape 3"/>
          <p:cNvSpPr/>
          <p:nvPr/>
        </p:nvSpPr>
        <p:spPr>
          <a:xfrm>
            <a:off x="379536" y="1391631"/>
            <a:ext cx="3682902" cy="3795357"/>
          </a:xfrm>
          <a:prstGeom prst="roundRect">
            <a:avLst>
              <a:gd name="adj" fmla="val 2036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646" y="1583742"/>
            <a:ext cx="449820" cy="44982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07090" y="1677454"/>
            <a:ext cx="271766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3922" y="1583742"/>
            <a:ext cx="852784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Network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3922" y="1846137"/>
            <a:ext cx="824670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Initial Access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646" y="2183502"/>
            <a:ext cx="3298681" cy="1162035"/>
          </a:xfrm>
          <a:prstGeom prst="roundRect">
            <a:avLst>
              <a:gd name="adj" fmla="val 6452"/>
            </a:avLst>
          </a:prstGeom>
          <a:solidFill>
            <a:srgbClr val="191919"/>
          </a:solidFill>
        </p:spPr>
      </p:sp>
      <p:sp>
        <p:nvSpPr>
          <p:cNvPr id="11" name="Text 9"/>
          <p:cNvSpPr/>
          <p:nvPr/>
        </p:nvSpPr>
        <p:spPr>
          <a:xfrm>
            <a:off x="684101" y="2295957"/>
            <a:ext cx="3148741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Components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4101" y="2595837"/>
            <a:ext cx="3139370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T-Pot CE platform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4101" y="2820747"/>
            <a:ext cx="3139370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SSH, HTTP, SMB services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4101" y="3045657"/>
            <a:ext cx="3139370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Simulated subnets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646" y="3457992"/>
            <a:ext cx="3298681" cy="749700"/>
          </a:xfrm>
          <a:prstGeom prst="roundRect">
            <a:avLst>
              <a:gd name="adj" fmla="val 10000"/>
            </a:avLst>
          </a:prstGeom>
          <a:solidFill>
            <a:srgbClr val="191919"/>
          </a:solidFill>
        </p:spPr>
      </p:sp>
      <p:sp>
        <p:nvSpPr>
          <p:cNvPr id="16" name="Text 14"/>
          <p:cNvSpPr/>
          <p:nvPr/>
        </p:nvSpPr>
        <p:spPr>
          <a:xfrm>
            <a:off x="684101" y="3570447"/>
            <a:ext cx="3148741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MITRE ATT&amp;CK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4101" y="3870327"/>
            <a:ext cx="955868" cy="22491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684101" y="3870327"/>
            <a:ext cx="1012095" cy="224910"/>
          </a:xfrm>
          <a:prstGeom prst="rect">
            <a:avLst/>
          </a:prstGeom>
          <a:noFill/>
        </p:spPr>
        <p:txBody>
          <a:bodyPr wrap="square" lIns="74970" tIns="37485" rIns="74970" bIns="37485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Reconnaissance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679870" y="3870327"/>
            <a:ext cx="1049580" cy="22491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1679870" y="3870327"/>
            <a:ext cx="1105808" cy="224910"/>
          </a:xfrm>
          <a:prstGeom prst="rect">
            <a:avLst/>
          </a:prstGeom>
          <a:noFill/>
        </p:spPr>
        <p:txBody>
          <a:bodyPr wrap="square" lIns="74970" tIns="37485" rIns="74970" bIns="37485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Credential Access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646" y="4320148"/>
            <a:ext cx="3298681" cy="674730"/>
          </a:xfrm>
          <a:prstGeom prst="roundRect">
            <a:avLst>
              <a:gd name="adj" fmla="val 11111"/>
            </a:avLst>
          </a:prstGeom>
          <a:solidFill>
            <a:srgbClr val="191919"/>
          </a:solidFill>
        </p:spPr>
      </p:sp>
      <p:sp>
        <p:nvSpPr>
          <p:cNvPr id="22" name="Text 20"/>
          <p:cNvSpPr/>
          <p:nvPr/>
        </p:nvSpPr>
        <p:spPr>
          <a:xfrm>
            <a:off x="684101" y="4432603"/>
            <a:ext cx="3148741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Expected Behaviour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4101" y="4694998"/>
            <a:ext cx="3139370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Scanning, credential brute force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57111" y="1391631"/>
            <a:ext cx="3682902" cy="3795357"/>
          </a:xfrm>
          <a:prstGeom prst="roundRect">
            <a:avLst>
              <a:gd name="adj" fmla="val 2036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49222" y="1583742"/>
            <a:ext cx="449820" cy="44982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4567754" y="1677454"/>
            <a:ext cx="309251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11497" y="1583742"/>
            <a:ext cx="1143293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11497" y="1846137"/>
            <a:ext cx="1115179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Lateral Movement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49222" y="2183502"/>
            <a:ext cx="3298681" cy="1162035"/>
          </a:xfrm>
          <a:prstGeom prst="roundRect">
            <a:avLst>
              <a:gd name="adj" fmla="val 6452"/>
            </a:avLst>
          </a:prstGeom>
          <a:solidFill>
            <a:srgbClr val="191919"/>
          </a:solidFill>
        </p:spPr>
      </p:sp>
      <p:sp>
        <p:nvSpPr>
          <p:cNvPr id="30" name="Text 28"/>
          <p:cNvSpPr/>
          <p:nvPr/>
        </p:nvSpPr>
        <p:spPr>
          <a:xfrm>
            <a:off x="4561677" y="2295957"/>
            <a:ext cx="3148741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Components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61677" y="2595837"/>
            <a:ext cx="3139370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GOAD Active Directory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61677" y="2820747"/>
            <a:ext cx="3139370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Windows clients &amp; servers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61677" y="3045657"/>
            <a:ext cx="3139370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Domain controller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49222" y="3457992"/>
            <a:ext cx="3298681" cy="749700"/>
          </a:xfrm>
          <a:prstGeom prst="roundRect">
            <a:avLst>
              <a:gd name="adj" fmla="val 10000"/>
            </a:avLst>
          </a:prstGeom>
          <a:solidFill>
            <a:srgbClr val="191919"/>
          </a:solidFill>
        </p:spPr>
      </p:sp>
      <p:sp>
        <p:nvSpPr>
          <p:cNvPr id="35" name="Text 33"/>
          <p:cNvSpPr/>
          <p:nvPr/>
        </p:nvSpPr>
        <p:spPr>
          <a:xfrm>
            <a:off x="4561677" y="3570447"/>
            <a:ext cx="3148741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MITRE ATT&amp;CK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61677" y="3870327"/>
            <a:ext cx="1115179" cy="22491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4561677" y="3870327"/>
            <a:ext cx="1171407" cy="224910"/>
          </a:xfrm>
          <a:prstGeom prst="rect">
            <a:avLst/>
          </a:prstGeom>
          <a:noFill/>
        </p:spPr>
        <p:txBody>
          <a:bodyPr wrap="square" lIns="74970" tIns="37485" rIns="74970" bIns="37485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Privilege Escalation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713023" y="3870327"/>
            <a:ext cx="1049580" cy="22491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5713023" y="3870327"/>
            <a:ext cx="1105808" cy="224910"/>
          </a:xfrm>
          <a:prstGeom prst="rect">
            <a:avLst/>
          </a:prstGeom>
          <a:noFill/>
        </p:spPr>
        <p:txBody>
          <a:bodyPr wrap="square" lIns="74970" tIns="37485" rIns="74970" bIns="37485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Lateral Movement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449222" y="4320148"/>
            <a:ext cx="3298681" cy="674730"/>
          </a:xfrm>
          <a:prstGeom prst="roundRect">
            <a:avLst>
              <a:gd name="adj" fmla="val 11111"/>
            </a:avLst>
          </a:prstGeom>
          <a:solidFill>
            <a:srgbClr val="191919"/>
          </a:solidFill>
        </p:spPr>
      </p:sp>
      <p:sp>
        <p:nvSpPr>
          <p:cNvPr id="41" name="Text 39"/>
          <p:cNvSpPr/>
          <p:nvPr/>
        </p:nvSpPr>
        <p:spPr>
          <a:xfrm>
            <a:off x="4561677" y="4432603"/>
            <a:ext cx="3148741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Expected Behaviour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61677" y="4694998"/>
            <a:ext cx="3139370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Enumeration, credential harvesting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34687" y="1391631"/>
            <a:ext cx="3682902" cy="3795357"/>
          </a:xfrm>
          <a:prstGeom prst="roundRect">
            <a:avLst>
              <a:gd name="adj" fmla="val 2036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26797" y="1583742"/>
            <a:ext cx="449820" cy="44982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8444451" y="1677454"/>
            <a:ext cx="309251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889073" y="1583742"/>
            <a:ext cx="1040209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Data/Cloud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889073" y="1846137"/>
            <a:ext cx="1012095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Exfiltration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26797" y="2183502"/>
            <a:ext cx="3298681" cy="1162035"/>
          </a:xfrm>
          <a:prstGeom prst="roundRect">
            <a:avLst>
              <a:gd name="adj" fmla="val 6452"/>
            </a:avLst>
          </a:prstGeom>
          <a:solidFill>
            <a:srgbClr val="191919"/>
          </a:solidFill>
        </p:spPr>
      </p:sp>
      <p:sp>
        <p:nvSpPr>
          <p:cNvPr id="49" name="Text 47"/>
          <p:cNvSpPr/>
          <p:nvPr/>
        </p:nvSpPr>
        <p:spPr>
          <a:xfrm>
            <a:off x="8439252" y="2295957"/>
            <a:ext cx="3148741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Components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39252" y="2595837"/>
            <a:ext cx="3139370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HoneyLambda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439252" y="2820747"/>
            <a:ext cx="3139370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Decoy S3 buckets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39252" y="3045657"/>
            <a:ext cx="3139370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Fake API keys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26797" y="3457992"/>
            <a:ext cx="3298681" cy="749700"/>
          </a:xfrm>
          <a:prstGeom prst="roundRect">
            <a:avLst>
              <a:gd name="adj" fmla="val 10000"/>
            </a:avLst>
          </a:prstGeom>
          <a:solidFill>
            <a:srgbClr val="191919"/>
          </a:solidFill>
        </p:spPr>
      </p:sp>
      <p:sp>
        <p:nvSpPr>
          <p:cNvPr id="54" name="Text 52"/>
          <p:cNvSpPr/>
          <p:nvPr/>
        </p:nvSpPr>
        <p:spPr>
          <a:xfrm>
            <a:off x="8439252" y="3570447"/>
            <a:ext cx="3148741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MITRE ATT&amp;CK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39252" y="3870327"/>
            <a:ext cx="655988" cy="22491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56" name="Text 54"/>
          <p:cNvSpPr/>
          <p:nvPr/>
        </p:nvSpPr>
        <p:spPr>
          <a:xfrm>
            <a:off x="8439252" y="3870327"/>
            <a:ext cx="712215" cy="224910"/>
          </a:xfrm>
          <a:prstGeom prst="rect">
            <a:avLst/>
          </a:prstGeom>
          <a:noFill/>
        </p:spPr>
        <p:txBody>
          <a:bodyPr wrap="square" lIns="74970" tIns="37485" rIns="74970" bIns="37485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Collection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129138" y="3870327"/>
            <a:ext cx="693473" cy="22491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58" name="Text 56"/>
          <p:cNvSpPr/>
          <p:nvPr/>
        </p:nvSpPr>
        <p:spPr>
          <a:xfrm>
            <a:off x="9129138" y="3870327"/>
            <a:ext cx="749700" cy="224910"/>
          </a:xfrm>
          <a:prstGeom prst="rect">
            <a:avLst/>
          </a:prstGeom>
          <a:noFill/>
        </p:spPr>
        <p:txBody>
          <a:bodyPr wrap="square" lIns="74970" tIns="37485" rIns="74970" bIns="37485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Exfiltration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26797" y="4320148"/>
            <a:ext cx="3298681" cy="674730"/>
          </a:xfrm>
          <a:prstGeom prst="roundRect">
            <a:avLst>
              <a:gd name="adj" fmla="val 11111"/>
            </a:avLst>
          </a:prstGeom>
          <a:solidFill>
            <a:srgbClr val="191919"/>
          </a:solidFill>
        </p:spPr>
      </p:sp>
      <p:sp>
        <p:nvSpPr>
          <p:cNvPr id="60" name="Text 58"/>
          <p:cNvSpPr/>
          <p:nvPr/>
        </p:nvSpPr>
        <p:spPr>
          <a:xfrm>
            <a:off x="8439252" y="4432603"/>
            <a:ext cx="3148741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Expected Behaviour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439252" y="4694998"/>
            <a:ext cx="3139370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Credential reuse, cloud enumeration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79536" y="5383785"/>
            <a:ext cx="5622752" cy="1096437"/>
          </a:xfrm>
          <a:prstGeom prst="roundRect">
            <a:avLst>
              <a:gd name="adj" fmla="val 6838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7590" y="5585267"/>
            <a:ext cx="168683" cy="168683"/>
          </a:xfrm>
          <a:custGeom>
            <a:avLst/>
            <a:gdLst/>
            <a:ahLst/>
            <a:cxnLst/>
            <a:rect l="l" t="t" r="r" b="b"/>
            <a:pathLst>
              <a:path w="168683" h="168683">
                <a:moveTo>
                  <a:pt x="165586" y="49616"/>
                </a:moveTo>
                <a:lnTo>
                  <a:pt x="133958" y="81244"/>
                </a:lnTo>
                <a:cubicBezTo>
                  <a:pt x="130927" y="84275"/>
                  <a:pt x="126413" y="85165"/>
                  <a:pt x="122460" y="83518"/>
                </a:cubicBezTo>
                <a:cubicBezTo>
                  <a:pt x="118506" y="81870"/>
                  <a:pt x="115969" y="78049"/>
                  <a:pt x="115969" y="73799"/>
                </a:cubicBezTo>
                <a:lnTo>
                  <a:pt x="115969" y="52713"/>
                </a:lnTo>
                <a:lnTo>
                  <a:pt x="10543" y="52713"/>
                </a:lnTo>
                <a:cubicBezTo>
                  <a:pt x="4711" y="52713"/>
                  <a:pt x="0" y="48002"/>
                  <a:pt x="0" y="42171"/>
                </a:cubicBezTo>
                <a:cubicBezTo>
                  <a:pt x="0" y="36339"/>
                  <a:pt x="4711" y="31628"/>
                  <a:pt x="10543" y="31628"/>
                </a:cubicBezTo>
                <a:lnTo>
                  <a:pt x="115969" y="31628"/>
                </a:lnTo>
                <a:lnTo>
                  <a:pt x="115969" y="10543"/>
                </a:lnTo>
                <a:cubicBezTo>
                  <a:pt x="115969" y="6293"/>
                  <a:pt x="118539" y="2438"/>
                  <a:pt x="122493" y="791"/>
                </a:cubicBezTo>
                <a:cubicBezTo>
                  <a:pt x="126446" y="-857"/>
                  <a:pt x="130960" y="66"/>
                  <a:pt x="133991" y="3064"/>
                </a:cubicBezTo>
                <a:lnTo>
                  <a:pt x="165619" y="34692"/>
                </a:lnTo>
                <a:cubicBezTo>
                  <a:pt x="169737" y="38810"/>
                  <a:pt x="169737" y="45498"/>
                  <a:pt x="165619" y="49616"/>
                </a:cubicBezTo>
                <a:close/>
                <a:moveTo>
                  <a:pt x="34692" y="165586"/>
                </a:moveTo>
                <a:lnTo>
                  <a:pt x="3064" y="133958"/>
                </a:lnTo>
                <a:cubicBezTo>
                  <a:pt x="-1054" y="129839"/>
                  <a:pt x="-1054" y="123151"/>
                  <a:pt x="3064" y="119033"/>
                </a:cubicBezTo>
                <a:lnTo>
                  <a:pt x="34692" y="87405"/>
                </a:lnTo>
                <a:cubicBezTo>
                  <a:pt x="37723" y="84374"/>
                  <a:pt x="42237" y="83485"/>
                  <a:pt x="46190" y="85132"/>
                </a:cubicBezTo>
                <a:cubicBezTo>
                  <a:pt x="50144" y="86779"/>
                  <a:pt x="52713" y="90634"/>
                  <a:pt x="52713" y="94884"/>
                </a:cubicBezTo>
                <a:lnTo>
                  <a:pt x="52713" y="115969"/>
                </a:lnTo>
                <a:lnTo>
                  <a:pt x="158140" y="115969"/>
                </a:lnTo>
                <a:cubicBezTo>
                  <a:pt x="163971" y="115969"/>
                  <a:pt x="168683" y="120681"/>
                  <a:pt x="168683" y="126512"/>
                </a:cubicBezTo>
                <a:cubicBezTo>
                  <a:pt x="168683" y="132343"/>
                  <a:pt x="163971" y="137055"/>
                  <a:pt x="158140" y="137055"/>
                </a:cubicBezTo>
                <a:lnTo>
                  <a:pt x="52713" y="137055"/>
                </a:lnTo>
                <a:lnTo>
                  <a:pt x="52713" y="158140"/>
                </a:lnTo>
                <a:cubicBezTo>
                  <a:pt x="52713" y="162390"/>
                  <a:pt x="50144" y="166245"/>
                  <a:pt x="46190" y="167892"/>
                </a:cubicBezTo>
                <a:cubicBezTo>
                  <a:pt x="42237" y="169539"/>
                  <a:pt x="37723" y="168617"/>
                  <a:pt x="34692" y="165619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64" name="Text 62"/>
          <p:cNvSpPr/>
          <p:nvPr/>
        </p:nvSpPr>
        <p:spPr>
          <a:xfrm>
            <a:off x="749700" y="5538410"/>
            <a:ext cx="5182303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Telemetry Flow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34161" y="5875776"/>
            <a:ext cx="5388470" cy="449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All layers → LOG01 (centralized monitoring) → Normalization → Structured datasets → Behavioural analysis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195936" y="5383785"/>
            <a:ext cx="5622752" cy="1096437"/>
          </a:xfrm>
          <a:prstGeom prst="roundRect">
            <a:avLst>
              <a:gd name="adj" fmla="val 6838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52904" y="5585267"/>
            <a:ext cx="210853" cy="168683"/>
          </a:xfrm>
          <a:custGeom>
            <a:avLst/>
            <a:gdLst/>
            <a:ahLst/>
            <a:cxnLst/>
            <a:rect l="l" t="t" r="r" b="b"/>
            <a:pathLst>
              <a:path w="210853" h="168683">
                <a:moveTo>
                  <a:pt x="137022" y="69351"/>
                </a:moveTo>
                <a:cubicBezTo>
                  <a:pt x="141041" y="68264"/>
                  <a:pt x="145258" y="70175"/>
                  <a:pt x="147070" y="73897"/>
                </a:cubicBezTo>
                <a:lnTo>
                  <a:pt x="153198" y="86285"/>
                </a:lnTo>
                <a:cubicBezTo>
                  <a:pt x="156591" y="86746"/>
                  <a:pt x="159919" y="87669"/>
                  <a:pt x="163049" y="88954"/>
                </a:cubicBezTo>
                <a:lnTo>
                  <a:pt x="174580" y="81277"/>
                </a:lnTo>
                <a:cubicBezTo>
                  <a:pt x="178039" y="78971"/>
                  <a:pt x="182619" y="79432"/>
                  <a:pt x="185551" y="82365"/>
                </a:cubicBezTo>
                <a:lnTo>
                  <a:pt x="191876" y="88690"/>
                </a:lnTo>
                <a:cubicBezTo>
                  <a:pt x="194809" y="91622"/>
                  <a:pt x="195270" y="96235"/>
                  <a:pt x="192964" y="99661"/>
                </a:cubicBezTo>
                <a:lnTo>
                  <a:pt x="185287" y="111159"/>
                </a:lnTo>
                <a:cubicBezTo>
                  <a:pt x="185913" y="112708"/>
                  <a:pt x="186473" y="114322"/>
                  <a:pt x="186935" y="116002"/>
                </a:cubicBezTo>
                <a:cubicBezTo>
                  <a:pt x="187396" y="117682"/>
                  <a:pt x="187692" y="119330"/>
                  <a:pt x="187923" y="121010"/>
                </a:cubicBezTo>
                <a:lnTo>
                  <a:pt x="200343" y="127138"/>
                </a:lnTo>
                <a:cubicBezTo>
                  <a:pt x="204066" y="128983"/>
                  <a:pt x="205977" y="133200"/>
                  <a:pt x="204890" y="137186"/>
                </a:cubicBezTo>
                <a:lnTo>
                  <a:pt x="202584" y="145818"/>
                </a:lnTo>
                <a:cubicBezTo>
                  <a:pt x="201497" y="149805"/>
                  <a:pt x="197774" y="152506"/>
                  <a:pt x="193623" y="152243"/>
                </a:cubicBezTo>
                <a:lnTo>
                  <a:pt x="179785" y="151353"/>
                </a:lnTo>
                <a:cubicBezTo>
                  <a:pt x="177710" y="154022"/>
                  <a:pt x="175305" y="156493"/>
                  <a:pt x="172570" y="158601"/>
                </a:cubicBezTo>
                <a:lnTo>
                  <a:pt x="173460" y="172405"/>
                </a:lnTo>
                <a:cubicBezTo>
                  <a:pt x="173723" y="176557"/>
                  <a:pt x="171022" y="180312"/>
                  <a:pt x="167035" y="181367"/>
                </a:cubicBezTo>
                <a:lnTo>
                  <a:pt x="158403" y="183673"/>
                </a:lnTo>
                <a:cubicBezTo>
                  <a:pt x="154384" y="184760"/>
                  <a:pt x="150200" y="182849"/>
                  <a:pt x="148355" y="179126"/>
                </a:cubicBezTo>
                <a:lnTo>
                  <a:pt x="142227" y="166739"/>
                </a:lnTo>
                <a:cubicBezTo>
                  <a:pt x="138834" y="166278"/>
                  <a:pt x="135506" y="165355"/>
                  <a:pt x="132376" y="164070"/>
                </a:cubicBezTo>
                <a:lnTo>
                  <a:pt x="120845" y="171747"/>
                </a:lnTo>
                <a:cubicBezTo>
                  <a:pt x="117386" y="174053"/>
                  <a:pt x="112806" y="173591"/>
                  <a:pt x="109874" y="170659"/>
                </a:cubicBezTo>
                <a:lnTo>
                  <a:pt x="103549" y="164334"/>
                </a:lnTo>
                <a:cubicBezTo>
                  <a:pt x="100617" y="161402"/>
                  <a:pt x="100155" y="156822"/>
                  <a:pt x="102461" y="153363"/>
                </a:cubicBezTo>
                <a:lnTo>
                  <a:pt x="110138" y="141832"/>
                </a:lnTo>
                <a:cubicBezTo>
                  <a:pt x="109512" y="140283"/>
                  <a:pt x="108952" y="138669"/>
                  <a:pt x="108491" y="136989"/>
                </a:cubicBezTo>
                <a:cubicBezTo>
                  <a:pt x="108029" y="135308"/>
                  <a:pt x="107733" y="133628"/>
                  <a:pt x="107502" y="131981"/>
                </a:cubicBezTo>
                <a:lnTo>
                  <a:pt x="95082" y="125853"/>
                </a:lnTo>
                <a:cubicBezTo>
                  <a:pt x="91359" y="124008"/>
                  <a:pt x="89481" y="119791"/>
                  <a:pt x="90535" y="115805"/>
                </a:cubicBezTo>
                <a:lnTo>
                  <a:pt x="92841" y="107173"/>
                </a:lnTo>
                <a:cubicBezTo>
                  <a:pt x="93929" y="103186"/>
                  <a:pt x="97651" y="100485"/>
                  <a:pt x="101803" y="100748"/>
                </a:cubicBezTo>
                <a:lnTo>
                  <a:pt x="115607" y="101638"/>
                </a:lnTo>
                <a:cubicBezTo>
                  <a:pt x="117682" y="98969"/>
                  <a:pt x="120087" y="96498"/>
                  <a:pt x="122822" y="94390"/>
                </a:cubicBezTo>
                <a:lnTo>
                  <a:pt x="121932" y="80618"/>
                </a:lnTo>
                <a:cubicBezTo>
                  <a:pt x="121669" y="76467"/>
                  <a:pt x="124370" y="72711"/>
                  <a:pt x="128357" y="71657"/>
                </a:cubicBezTo>
                <a:lnTo>
                  <a:pt x="136989" y="69351"/>
                </a:lnTo>
                <a:close/>
                <a:moveTo>
                  <a:pt x="147729" y="112016"/>
                </a:moveTo>
                <a:cubicBezTo>
                  <a:pt x="139728" y="112025"/>
                  <a:pt x="133240" y="118528"/>
                  <a:pt x="133249" y="126528"/>
                </a:cubicBezTo>
                <a:cubicBezTo>
                  <a:pt x="133258" y="134529"/>
                  <a:pt x="139761" y="141017"/>
                  <a:pt x="147762" y="141008"/>
                </a:cubicBezTo>
                <a:cubicBezTo>
                  <a:pt x="155763" y="140999"/>
                  <a:pt x="162251" y="134496"/>
                  <a:pt x="162242" y="126495"/>
                </a:cubicBezTo>
                <a:cubicBezTo>
                  <a:pt x="162233" y="118495"/>
                  <a:pt x="155730" y="112007"/>
                  <a:pt x="147729" y="112016"/>
                </a:cubicBezTo>
                <a:close/>
                <a:moveTo>
                  <a:pt x="74095" y="-14990"/>
                </a:moveTo>
                <a:lnTo>
                  <a:pt x="82727" y="-12684"/>
                </a:lnTo>
                <a:cubicBezTo>
                  <a:pt x="86713" y="-11597"/>
                  <a:pt x="89415" y="-7841"/>
                  <a:pt x="89151" y="-3723"/>
                </a:cubicBezTo>
                <a:lnTo>
                  <a:pt x="88262" y="10048"/>
                </a:lnTo>
                <a:cubicBezTo>
                  <a:pt x="90996" y="12157"/>
                  <a:pt x="93401" y="14595"/>
                  <a:pt x="95477" y="17297"/>
                </a:cubicBezTo>
                <a:lnTo>
                  <a:pt x="109314" y="16407"/>
                </a:lnTo>
                <a:cubicBezTo>
                  <a:pt x="113432" y="16143"/>
                  <a:pt x="117188" y="18845"/>
                  <a:pt x="118275" y="22831"/>
                </a:cubicBezTo>
                <a:lnTo>
                  <a:pt x="120582" y="31463"/>
                </a:lnTo>
                <a:cubicBezTo>
                  <a:pt x="121636" y="35450"/>
                  <a:pt x="119758" y="39667"/>
                  <a:pt x="116035" y="41512"/>
                </a:cubicBezTo>
                <a:lnTo>
                  <a:pt x="103615" y="47640"/>
                </a:lnTo>
                <a:cubicBezTo>
                  <a:pt x="103384" y="49320"/>
                  <a:pt x="103054" y="51000"/>
                  <a:pt x="102626" y="52647"/>
                </a:cubicBezTo>
                <a:cubicBezTo>
                  <a:pt x="102198" y="54295"/>
                  <a:pt x="101605" y="55942"/>
                  <a:pt x="100979" y="57490"/>
                </a:cubicBezTo>
                <a:lnTo>
                  <a:pt x="108655" y="69021"/>
                </a:lnTo>
                <a:cubicBezTo>
                  <a:pt x="110961" y="72481"/>
                  <a:pt x="110500" y="77060"/>
                  <a:pt x="107568" y="79992"/>
                </a:cubicBezTo>
                <a:lnTo>
                  <a:pt x="101242" y="86318"/>
                </a:lnTo>
                <a:cubicBezTo>
                  <a:pt x="98310" y="89250"/>
                  <a:pt x="93731" y="89711"/>
                  <a:pt x="90272" y="87405"/>
                </a:cubicBezTo>
                <a:lnTo>
                  <a:pt x="78740" y="79729"/>
                </a:lnTo>
                <a:cubicBezTo>
                  <a:pt x="75611" y="81014"/>
                  <a:pt x="72283" y="81936"/>
                  <a:pt x="68890" y="82397"/>
                </a:cubicBezTo>
                <a:lnTo>
                  <a:pt x="62762" y="94785"/>
                </a:lnTo>
                <a:cubicBezTo>
                  <a:pt x="60917" y="98508"/>
                  <a:pt x="56700" y="100386"/>
                  <a:pt x="52713" y="99332"/>
                </a:cubicBezTo>
                <a:lnTo>
                  <a:pt x="44081" y="97025"/>
                </a:lnTo>
                <a:cubicBezTo>
                  <a:pt x="40062" y="95938"/>
                  <a:pt x="37393" y="92182"/>
                  <a:pt x="37657" y="88064"/>
                </a:cubicBezTo>
                <a:lnTo>
                  <a:pt x="38547" y="74260"/>
                </a:lnTo>
                <a:cubicBezTo>
                  <a:pt x="35812" y="72151"/>
                  <a:pt x="33407" y="69713"/>
                  <a:pt x="31331" y="67012"/>
                </a:cubicBezTo>
                <a:lnTo>
                  <a:pt x="17494" y="67901"/>
                </a:lnTo>
                <a:cubicBezTo>
                  <a:pt x="13376" y="68165"/>
                  <a:pt x="9620" y="65463"/>
                  <a:pt x="8533" y="61477"/>
                </a:cubicBezTo>
                <a:lnTo>
                  <a:pt x="6227" y="52845"/>
                </a:lnTo>
                <a:cubicBezTo>
                  <a:pt x="5172" y="48859"/>
                  <a:pt x="7050" y="44642"/>
                  <a:pt x="10773" y="42797"/>
                </a:cubicBezTo>
                <a:lnTo>
                  <a:pt x="23194" y="36669"/>
                </a:lnTo>
                <a:cubicBezTo>
                  <a:pt x="23424" y="34988"/>
                  <a:pt x="23754" y="33341"/>
                  <a:pt x="24182" y="31661"/>
                </a:cubicBezTo>
                <a:cubicBezTo>
                  <a:pt x="24643" y="29981"/>
                  <a:pt x="25171" y="28366"/>
                  <a:pt x="25830" y="26818"/>
                </a:cubicBezTo>
                <a:lnTo>
                  <a:pt x="18153" y="15320"/>
                </a:lnTo>
                <a:cubicBezTo>
                  <a:pt x="15847" y="11860"/>
                  <a:pt x="16308" y="7281"/>
                  <a:pt x="19240" y="4349"/>
                </a:cubicBezTo>
                <a:lnTo>
                  <a:pt x="25566" y="-1977"/>
                </a:lnTo>
                <a:cubicBezTo>
                  <a:pt x="28498" y="-4909"/>
                  <a:pt x="33078" y="-5370"/>
                  <a:pt x="36537" y="-3064"/>
                </a:cubicBezTo>
                <a:lnTo>
                  <a:pt x="48068" y="4612"/>
                </a:lnTo>
                <a:cubicBezTo>
                  <a:pt x="51198" y="3328"/>
                  <a:pt x="54525" y="2405"/>
                  <a:pt x="57919" y="1944"/>
                </a:cubicBezTo>
                <a:lnTo>
                  <a:pt x="64047" y="-10444"/>
                </a:lnTo>
                <a:cubicBezTo>
                  <a:pt x="65892" y="-14167"/>
                  <a:pt x="70076" y="-16045"/>
                  <a:pt x="74095" y="-14990"/>
                </a:cubicBezTo>
                <a:close/>
                <a:moveTo>
                  <a:pt x="63388" y="27674"/>
                </a:moveTo>
                <a:cubicBezTo>
                  <a:pt x="55387" y="27674"/>
                  <a:pt x="48892" y="34170"/>
                  <a:pt x="48892" y="42171"/>
                </a:cubicBezTo>
                <a:cubicBezTo>
                  <a:pt x="48892" y="50171"/>
                  <a:pt x="55387" y="56667"/>
                  <a:pt x="63388" y="56667"/>
                </a:cubicBezTo>
                <a:cubicBezTo>
                  <a:pt x="71388" y="56667"/>
                  <a:pt x="77884" y="50171"/>
                  <a:pt x="77884" y="42171"/>
                </a:cubicBezTo>
                <a:cubicBezTo>
                  <a:pt x="77884" y="34170"/>
                  <a:pt x="71388" y="27674"/>
                  <a:pt x="63388" y="27674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68" name="Text 66"/>
          <p:cNvSpPr/>
          <p:nvPr/>
        </p:nvSpPr>
        <p:spPr>
          <a:xfrm>
            <a:off x="6566100" y="5538410"/>
            <a:ext cx="5182303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Deception Control Plane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350561" y="5875776"/>
            <a:ext cx="5388470" cy="449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Conditional layer activation based on attacker triggers: login success → command execution → credential interaction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419" y="354419"/>
            <a:ext cx="11554047" cy="212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kern="0" spc="56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COMPLETED MILESTONE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4419" y="637953"/>
            <a:ext cx="11642651" cy="354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Milestone 1: Literature Review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4419" y="1098698"/>
            <a:ext cx="708837" cy="35442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5" name="Shape 3"/>
          <p:cNvSpPr/>
          <p:nvPr/>
        </p:nvSpPr>
        <p:spPr>
          <a:xfrm>
            <a:off x="358849" y="1315779"/>
            <a:ext cx="7575698" cy="3411279"/>
          </a:xfrm>
          <a:prstGeom prst="roundRect">
            <a:avLst>
              <a:gd name="adj" fmla="val 2078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0488" y="1497419"/>
            <a:ext cx="1851837" cy="2480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Research Findings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00684" y="1497419"/>
            <a:ext cx="948070" cy="248093"/>
          </a:xfrm>
          <a:prstGeom prst="roundRect">
            <a:avLst>
              <a:gd name="adj" fmla="val 50000"/>
            </a:avLst>
          </a:prstGeom>
          <a:solidFill>
            <a:srgbClr val="00C950">
              <a:alpha val="20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6800684" y="1497419"/>
            <a:ext cx="1010093" cy="248093"/>
          </a:xfrm>
          <a:prstGeom prst="rect">
            <a:avLst/>
          </a:prstGeom>
          <a:noFill/>
        </p:spPr>
        <p:txBody>
          <a:bodyPr wrap="square" lIns="106326" tIns="35442" rIns="106326" bIns="35442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0488" y="1887279"/>
            <a:ext cx="7212419" cy="886047"/>
          </a:xfrm>
          <a:prstGeom prst="roundRect">
            <a:avLst>
              <a:gd name="adj" fmla="val 8000"/>
            </a:avLst>
          </a:prstGeom>
          <a:solidFill>
            <a:srgbClr val="191919"/>
          </a:solidFill>
        </p:spPr>
      </p:sp>
      <p:sp>
        <p:nvSpPr>
          <p:cNvPr id="10" name="Shape 8"/>
          <p:cNvSpPr/>
          <p:nvPr/>
        </p:nvSpPr>
        <p:spPr>
          <a:xfrm>
            <a:off x="646814" y="1993605"/>
            <a:ext cx="425302" cy="425302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797442" y="2135372"/>
            <a:ext cx="124047" cy="141767"/>
          </a:xfrm>
          <a:custGeom>
            <a:avLst/>
            <a:gdLst/>
            <a:ahLst/>
            <a:cxnLst/>
            <a:rect l="l" t="t" r="r" b="b"/>
            <a:pathLst>
              <a:path w="124047" h="141767">
                <a:moveTo>
                  <a:pt x="106326" y="141767"/>
                </a:moveTo>
                <a:lnTo>
                  <a:pt x="26581" y="141767"/>
                </a:lnTo>
                <a:cubicBezTo>
                  <a:pt x="11906" y="141767"/>
                  <a:pt x="0" y="129861"/>
                  <a:pt x="0" y="115186"/>
                </a:cubicBezTo>
                <a:lnTo>
                  <a:pt x="0" y="26581"/>
                </a:lnTo>
                <a:cubicBezTo>
                  <a:pt x="0" y="11906"/>
                  <a:pt x="11906" y="0"/>
                  <a:pt x="26581" y="0"/>
                </a:cubicBezTo>
                <a:lnTo>
                  <a:pt x="110756" y="0"/>
                </a:lnTo>
                <a:cubicBezTo>
                  <a:pt x="118093" y="0"/>
                  <a:pt x="124047" y="5953"/>
                  <a:pt x="124047" y="13291"/>
                </a:cubicBezTo>
                <a:lnTo>
                  <a:pt x="124047" y="93035"/>
                </a:lnTo>
                <a:cubicBezTo>
                  <a:pt x="124047" y="98822"/>
                  <a:pt x="120336" y="103751"/>
                  <a:pt x="115186" y="105578"/>
                </a:cubicBezTo>
                <a:lnTo>
                  <a:pt x="115186" y="124047"/>
                </a:lnTo>
                <a:cubicBezTo>
                  <a:pt x="120087" y="124047"/>
                  <a:pt x="124047" y="128006"/>
                  <a:pt x="124047" y="132907"/>
                </a:cubicBezTo>
                <a:cubicBezTo>
                  <a:pt x="124047" y="137808"/>
                  <a:pt x="120087" y="141767"/>
                  <a:pt x="115186" y="141767"/>
                </a:cubicBezTo>
                <a:lnTo>
                  <a:pt x="106326" y="141767"/>
                </a:lnTo>
                <a:close/>
                <a:moveTo>
                  <a:pt x="26581" y="106326"/>
                </a:moveTo>
                <a:cubicBezTo>
                  <a:pt x="21680" y="106326"/>
                  <a:pt x="17721" y="110285"/>
                  <a:pt x="17721" y="115186"/>
                </a:cubicBezTo>
                <a:cubicBezTo>
                  <a:pt x="17721" y="120087"/>
                  <a:pt x="21680" y="124047"/>
                  <a:pt x="26581" y="124047"/>
                </a:cubicBezTo>
                <a:lnTo>
                  <a:pt x="97465" y="124047"/>
                </a:lnTo>
                <a:lnTo>
                  <a:pt x="97465" y="106326"/>
                </a:lnTo>
                <a:lnTo>
                  <a:pt x="26581" y="106326"/>
                </a:lnTo>
                <a:close/>
                <a:moveTo>
                  <a:pt x="35442" y="42087"/>
                </a:moveTo>
                <a:cubicBezTo>
                  <a:pt x="35442" y="45770"/>
                  <a:pt x="38405" y="48733"/>
                  <a:pt x="42087" y="48733"/>
                </a:cubicBezTo>
                <a:lnTo>
                  <a:pt x="90820" y="48733"/>
                </a:lnTo>
                <a:cubicBezTo>
                  <a:pt x="94502" y="48733"/>
                  <a:pt x="97465" y="45770"/>
                  <a:pt x="97465" y="42087"/>
                </a:cubicBezTo>
                <a:cubicBezTo>
                  <a:pt x="97465" y="38405"/>
                  <a:pt x="94502" y="35442"/>
                  <a:pt x="90820" y="35442"/>
                </a:cubicBezTo>
                <a:lnTo>
                  <a:pt x="42087" y="35442"/>
                </a:lnTo>
                <a:cubicBezTo>
                  <a:pt x="38405" y="35442"/>
                  <a:pt x="35442" y="38405"/>
                  <a:pt x="35442" y="42087"/>
                </a:cubicBezTo>
                <a:close/>
                <a:moveTo>
                  <a:pt x="42087" y="62023"/>
                </a:moveTo>
                <a:cubicBezTo>
                  <a:pt x="38405" y="62023"/>
                  <a:pt x="35442" y="64986"/>
                  <a:pt x="35442" y="68669"/>
                </a:cubicBezTo>
                <a:cubicBezTo>
                  <a:pt x="35442" y="72351"/>
                  <a:pt x="38405" y="75314"/>
                  <a:pt x="42087" y="75314"/>
                </a:cubicBezTo>
                <a:lnTo>
                  <a:pt x="90820" y="75314"/>
                </a:lnTo>
                <a:cubicBezTo>
                  <a:pt x="94502" y="75314"/>
                  <a:pt x="97465" y="72351"/>
                  <a:pt x="97465" y="68669"/>
                </a:cubicBezTo>
                <a:cubicBezTo>
                  <a:pt x="97465" y="64986"/>
                  <a:pt x="94502" y="62023"/>
                  <a:pt x="90820" y="62023"/>
                </a:cubicBezTo>
                <a:lnTo>
                  <a:pt x="42087" y="62023"/>
                </a:lnTo>
                <a:close/>
              </a:path>
            </a:pathLst>
          </a:custGeom>
          <a:solidFill>
            <a:srgbClr val="6366F1"/>
          </a:solidFill>
        </p:spPr>
      </p:sp>
      <p:sp>
        <p:nvSpPr>
          <p:cNvPr id="12" name="Text 10"/>
          <p:cNvSpPr/>
          <p:nvPr/>
        </p:nvSpPr>
        <p:spPr>
          <a:xfrm>
            <a:off x="1213884" y="1993605"/>
            <a:ext cx="6503581" cy="212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Landsborough et al. (2024)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13884" y="2241698"/>
            <a:ext cx="6503581" cy="425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Deception-in-Depth strategy with three logical layers (network, host, data). Single-layer deception may be insufficient as attackers can detect isolated honeypots.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0488" y="2879651"/>
            <a:ext cx="7212419" cy="673395"/>
          </a:xfrm>
          <a:prstGeom prst="roundRect">
            <a:avLst>
              <a:gd name="adj" fmla="val 10526"/>
            </a:avLst>
          </a:prstGeom>
          <a:solidFill>
            <a:srgbClr val="191919"/>
          </a:solidFill>
        </p:spPr>
      </p:sp>
      <p:sp>
        <p:nvSpPr>
          <p:cNvPr id="15" name="Shape 13"/>
          <p:cNvSpPr/>
          <p:nvPr/>
        </p:nvSpPr>
        <p:spPr>
          <a:xfrm>
            <a:off x="646814" y="2985977"/>
            <a:ext cx="425302" cy="425302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797442" y="3127744"/>
            <a:ext cx="124047" cy="141767"/>
          </a:xfrm>
          <a:custGeom>
            <a:avLst/>
            <a:gdLst/>
            <a:ahLst/>
            <a:cxnLst/>
            <a:rect l="l" t="t" r="r" b="b"/>
            <a:pathLst>
              <a:path w="124047" h="141767">
                <a:moveTo>
                  <a:pt x="106326" y="141767"/>
                </a:moveTo>
                <a:lnTo>
                  <a:pt x="26581" y="141767"/>
                </a:lnTo>
                <a:cubicBezTo>
                  <a:pt x="11906" y="141767"/>
                  <a:pt x="0" y="129861"/>
                  <a:pt x="0" y="115186"/>
                </a:cubicBezTo>
                <a:lnTo>
                  <a:pt x="0" y="26581"/>
                </a:lnTo>
                <a:cubicBezTo>
                  <a:pt x="0" y="11906"/>
                  <a:pt x="11906" y="0"/>
                  <a:pt x="26581" y="0"/>
                </a:cubicBezTo>
                <a:lnTo>
                  <a:pt x="110756" y="0"/>
                </a:lnTo>
                <a:cubicBezTo>
                  <a:pt x="118093" y="0"/>
                  <a:pt x="124047" y="5953"/>
                  <a:pt x="124047" y="13291"/>
                </a:cubicBezTo>
                <a:lnTo>
                  <a:pt x="124047" y="93035"/>
                </a:lnTo>
                <a:cubicBezTo>
                  <a:pt x="124047" y="98822"/>
                  <a:pt x="120336" y="103751"/>
                  <a:pt x="115186" y="105578"/>
                </a:cubicBezTo>
                <a:lnTo>
                  <a:pt x="115186" y="124047"/>
                </a:lnTo>
                <a:cubicBezTo>
                  <a:pt x="120087" y="124047"/>
                  <a:pt x="124047" y="128006"/>
                  <a:pt x="124047" y="132907"/>
                </a:cubicBezTo>
                <a:cubicBezTo>
                  <a:pt x="124047" y="137808"/>
                  <a:pt x="120087" y="141767"/>
                  <a:pt x="115186" y="141767"/>
                </a:cubicBezTo>
                <a:lnTo>
                  <a:pt x="106326" y="141767"/>
                </a:lnTo>
                <a:close/>
                <a:moveTo>
                  <a:pt x="26581" y="106326"/>
                </a:moveTo>
                <a:cubicBezTo>
                  <a:pt x="21680" y="106326"/>
                  <a:pt x="17721" y="110285"/>
                  <a:pt x="17721" y="115186"/>
                </a:cubicBezTo>
                <a:cubicBezTo>
                  <a:pt x="17721" y="120087"/>
                  <a:pt x="21680" y="124047"/>
                  <a:pt x="26581" y="124047"/>
                </a:cubicBezTo>
                <a:lnTo>
                  <a:pt x="97465" y="124047"/>
                </a:lnTo>
                <a:lnTo>
                  <a:pt x="97465" y="106326"/>
                </a:lnTo>
                <a:lnTo>
                  <a:pt x="26581" y="106326"/>
                </a:lnTo>
                <a:close/>
                <a:moveTo>
                  <a:pt x="35442" y="42087"/>
                </a:moveTo>
                <a:cubicBezTo>
                  <a:pt x="35442" y="45770"/>
                  <a:pt x="38405" y="48733"/>
                  <a:pt x="42087" y="48733"/>
                </a:cubicBezTo>
                <a:lnTo>
                  <a:pt x="90820" y="48733"/>
                </a:lnTo>
                <a:cubicBezTo>
                  <a:pt x="94502" y="48733"/>
                  <a:pt x="97465" y="45770"/>
                  <a:pt x="97465" y="42087"/>
                </a:cubicBezTo>
                <a:cubicBezTo>
                  <a:pt x="97465" y="38405"/>
                  <a:pt x="94502" y="35442"/>
                  <a:pt x="90820" y="35442"/>
                </a:cubicBezTo>
                <a:lnTo>
                  <a:pt x="42087" y="35442"/>
                </a:lnTo>
                <a:cubicBezTo>
                  <a:pt x="38405" y="35442"/>
                  <a:pt x="35442" y="38405"/>
                  <a:pt x="35442" y="42087"/>
                </a:cubicBezTo>
                <a:close/>
                <a:moveTo>
                  <a:pt x="42087" y="62023"/>
                </a:moveTo>
                <a:cubicBezTo>
                  <a:pt x="38405" y="62023"/>
                  <a:pt x="35442" y="64986"/>
                  <a:pt x="35442" y="68669"/>
                </a:cubicBezTo>
                <a:cubicBezTo>
                  <a:pt x="35442" y="72351"/>
                  <a:pt x="38405" y="75314"/>
                  <a:pt x="42087" y="75314"/>
                </a:cubicBezTo>
                <a:lnTo>
                  <a:pt x="90820" y="75314"/>
                </a:lnTo>
                <a:cubicBezTo>
                  <a:pt x="94502" y="75314"/>
                  <a:pt x="97465" y="72351"/>
                  <a:pt x="97465" y="68669"/>
                </a:cubicBezTo>
                <a:cubicBezTo>
                  <a:pt x="97465" y="64986"/>
                  <a:pt x="94502" y="62023"/>
                  <a:pt x="90820" y="62023"/>
                </a:cubicBezTo>
                <a:lnTo>
                  <a:pt x="42087" y="62023"/>
                </a:lnTo>
                <a:close/>
              </a:path>
            </a:pathLst>
          </a:custGeom>
          <a:solidFill>
            <a:srgbClr val="6366F1"/>
          </a:solidFill>
        </p:spPr>
      </p:sp>
      <p:sp>
        <p:nvSpPr>
          <p:cNvPr id="17" name="Text 15"/>
          <p:cNvSpPr/>
          <p:nvPr/>
        </p:nvSpPr>
        <p:spPr>
          <a:xfrm>
            <a:off x="1213884" y="2985977"/>
            <a:ext cx="6290930" cy="212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Gaddam (2025)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13884" y="3234070"/>
            <a:ext cx="6290930" cy="212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Deception techniques increase attacker effort and improve visibility into attacker behaviour patterns.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0488" y="3659372"/>
            <a:ext cx="7212419" cy="886047"/>
          </a:xfrm>
          <a:prstGeom prst="roundRect">
            <a:avLst>
              <a:gd name="adj" fmla="val 8000"/>
            </a:avLst>
          </a:prstGeom>
          <a:solidFill>
            <a:srgbClr val="191919"/>
          </a:solidFill>
        </p:spPr>
      </p:sp>
      <p:sp>
        <p:nvSpPr>
          <p:cNvPr id="20" name="Shape 18"/>
          <p:cNvSpPr/>
          <p:nvPr/>
        </p:nvSpPr>
        <p:spPr>
          <a:xfrm>
            <a:off x="646814" y="3765698"/>
            <a:ext cx="425302" cy="425302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797442" y="3907465"/>
            <a:ext cx="124047" cy="141767"/>
          </a:xfrm>
          <a:custGeom>
            <a:avLst/>
            <a:gdLst/>
            <a:ahLst/>
            <a:cxnLst/>
            <a:rect l="l" t="t" r="r" b="b"/>
            <a:pathLst>
              <a:path w="124047" h="141767">
                <a:moveTo>
                  <a:pt x="106326" y="141767"/>
                </a:moveTo>
                <a:lnTo>
                  <a:pt x="26581" y="141767"/>
                </a:lnTo>
                <a:cubicBezTo>
                  <a:pt x="11906" y="141767"/>
                  <a:pt x="0" y="129861"/>
                  <a:pt x="0" y="115186"/>
                </a:cubicBezTo>
                <a:lnTo>
                  <a:pt x="0" y="26581"/>
                </a:lnTo>
                <a:cubicBezTo>
                  <a:pt x="0" y="11906"/>
                  <a:pt x="11906" y="0"/>
                  <a:pt x="26581" y="0"/>
                </a:cubicBezTo>
                <a:lnTo>
                  <a:pt x="110756" y="0"/>
                </a:lnTo>
                <a:cubicBezTo>
                  <a:pt x="118093" y="0"/>
                  <a:pt x="124047" y="5953"/>
                  <a:pt x="124047" y="13291"/>
                </a:cubicBezTo>
                <a:lnTo>
                  <a:pt x="124047" y="93035"/>
                </a:lnTo>
                <a:cubicBezTo>
                  <a:pt x="124047" y="98822"/>
                  <a:pt x="120336" y="103751"/>
                  <a:pt x="115186" y="105578"/>
                </a:cubicBezTo>
                <a:lnTo>
                  <a:pt x="115186" y="124047"/>
                </a:lnTo>
                <a:cubicBezTo>
                  <a:pt x="120087" y="124047"/>
                  <a:pt x="124047" y="128006"/>
                  <a:pt x="124047" y="132907"/>
                </a:cubicBezTo>
                <a:cubicBezTo>
                  <a:pt x="124047" y="137808"/>
                  <a:pt x="120087" y="141767"/>
                  <a:pt x="115186" y="141767"/>
                </a:cubicBezTo>
                <a:lnTo>
                  <a:pt x="106326" y="141767"/>
                </a:lnTo>
                <a:close/>
                <a:moveTo>
                  <a:pt x="26581" y="106326"/>
                </a:moveTo>
                <a:cubicBezTo>
                  <a:pt x="21680" y="106326"/>
                  <a:pt x="17721" y="110285"/>
                  <a:pt x="17721" y="115186"/>
                </a:cubicBezTo>
                <a:cubicBezTo>
                  <a:pt x="17721" y="120087"/>
                  <a:pt x="21680" y="124047"/>
                  <a:pt x="26581" y="124047"/>
                </a:cubicBezTo>
                <a:lnTo>
                  <a:pt x="97465" y="124047"/>
                </a:lnTo>
                <a:lnTo>
                  <a:pt x="97465" y="106326"/>
                </a:lnTo>
                <a:lnTo>
                  <a:pt x="26581" y="106326"/>
                </a:lnTo>
                <a:close/>
                <a:moveTo>
                  <a:pt x="35442" y="42087"/>
                </a:moveTo>
                <a:cubicBezTo>
                  <a:pt x="35442" y="45770"/>
                  <a:pt x="38405" y="48733"/>
                  <a:pt x="42087" y="48733"/>
                </a:cubicBezTo>
                <a:lnTo>
                  <a:pt x="90820" y="48733"/>
                </a:lnTo>
                <a:cubicBezTo>
                  <a:pt x="94502" y="48733"/>
                  <a:pt x="97465" y="45770"/>
                  <a:pt x="97465" y="42087"/>
                </a:cubicBezTo>
                <a:cubicBezTo>
                  <a:pt x="97465" y="38405"/>
                  <a:pt x="94502" y="35442"/>
                  <a:pt x="90820" y="35442"/>
                </a:cubicBezTo>
                <a:lnTo>
                  <a:pt x="42087" y="35442"/>
                </a:lnTo>
                <a:cubicBezTo>
                  <a:pt x="38405" y="35442"/>
                  <a:pt x="35442" y="38405"/>
                  <a:pt x="35442" y="42087"/>
                </a:cubicBezTo>
                <a:close/>
                <a:moveTo>
                  <a:pt x="42087" y="62023"/>
                </a:moveTo>
                <a:cubicBezTo>
                  <a:pt x="38405" y="62023"/>
                  <a:pt x="35442" y="64986"/>
                  <a:pt x="35442" y="68669"/>
                </a:cubicBezTo>
                <a:cubicBezTo>
                  <a:pt x="35442" y="72351"/>
                  <a:pt x="38405" y="75314"/>
                  <a:pt x="42087" y="75314"/>
                </a:cubicBezTo>
                <a:lnTo>
                  <a:pt x="90820" y="75314"/>
                </a:lnTo>
                <a:cubicBezTo>
                  <a:pt x="94502" y="75314"/>
                  <a:pt x="97465" y="72351"/>
                  <a:pt x="97465" y="68669"/>
                </a:cubicBezTo>
                <a:cubicBezTo>
                  <a:pt x="97465" y="64986"/>
                  <a:pt x="94502" y="62023"/>
                  <a:pt x="90820" y="62023"/>
                </a:cubicBezTo>
                <a:lnTo>
                  <a:pt x="42087" y="62023"/>
                </a:lnTo>
                <a:close/>
              </a:path>
            </a:pathLst>
          </a:custGeom>
          <a:solidFill>
            <a:srgbClr val="6366F1"/>
          </a:solidFill>
        </p:spPr>
      </p:sp>
      <p:sp>
        <p:nvSpPr>
          <p:cNvPr id="22" name="Text 20"/>
          <p:cNvSpPr/>
          <p:nvPr/>
        </p:nvSpPr>
        <p:spPr>
          <a:xfrm>
            <a:off x="1213884" y="3765698"/>
            <a:ext cx="6503581" cy="212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Fraunholz et al. (2021)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13884" y="4013791"/>
            <a:ext cx="6503581" cy="425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Adaptive deployment and dynamic configuration are crucial for responding to attacker activity in honeynet systems.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8849" y="4877686"/>
            <a:ext cx="7575698" cy="1178442"/>
          </a:xfrm>
          <a:prstGeom prst="roundRect">
            <a:avLst>
              <a:gd name="adj" fmla="val 6015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0488" y="5059326"/>
            <a:ext cx="7292163" cy="2480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Research Gap Identified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0488" y="5413744"/>
            <a:ext cx="7283302" cy="460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Despite advances in cyber deception, </a:t>
            </a:r>
            <a:r>
              <a:rPr lang="en-US" sz="1115" dirty="0">
                <a:solidFill>
                  <a:srgbClr val="6366F1"/>
                </a:solidFill>
                <a:highlight>
                  <a:srgbClr val="6366F1">
                    <a:alpha val="20000"/>
                  </a:srgbClr>
                </a:highligh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there remains a gap in experimentally evaluating how layered deception influences attacker behaviour across multiple stages </a:t>
            </a:r>
            <a:r>
              <a:rPr lang="en-US" sz="1115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within controlled and reproducible environments.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56058" y="1315779"/>
            <a:ext cx="3677093" cy="1975884"/>
          </a:xfrm>
          <a:prstGeom prst="roundRect">
            <a:avLst>
              <a:gd name="adj" fmla="val 3587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7698" y="1497419"/>
            <a:ext cx="3393558" cy="2480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Milestone Details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37698" y="1887279"/>
            <a:ext cx="602512" cy="212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Timeline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064852" y="1887279"/>
            <a:ext cx="655674" cy="212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 1-2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37698" y="2135372"/>
            <a:ext cx="3313814" cy="70884"/>
          </a:xfrm>
          <a:prstGeom prst="roundRect">
            <a:avLst>
              <a:gd name="adj" fmla="val 50000"/>
            </a:avLst>
          </a:prstGeom>
          <a:solidFill>
            <a:srgbClr val="333333"/>
          </a:solidFill>
        </p:spPr>
      </p:sp>
      <p:sp>
        <p:nvSpPr>
          <p:cNvPr id="32" name="Shape 30"/>
          <p:cNvSpPr/>
          <p:nvPr/>
        </p:nvSpPr>
        <p:spPr>
          <a:xfrm>
            <a:off x="8337698" y="2135372"/>
            <a:ext cx="3313814" cy="708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</p:spPr>
      </p:sp>
      <p:sp>
        <p:nvSpPr>
          <p:cNvPr id="33" name="Shape 31"/>
          <p:cNvSpPr/>
          <p:nvPr/>
        </p:nvSpPr>
        <p:spPr>
          <a:xfrm>
            <a:off x="8337698" y="2317012"/>
            <a:ext cx="3313814" cy="8860"/>
          </a:xfrm>
          <a:prstGeom prst="roundRect">
            <a:avLst>
              <a:gd name="adj" fmla="val 0"/>
            </a:avLst>
          </a:prstGeom>
          <a:solidFill>
            <a:srgbClr val="333333"/>
          </a:solidFill>
        </p:spPr>
      </p:sp>
      <p:sp>
        <p:nvSpPr>
          <p:cNvPr id="34" name="Text 32"/>
          <p:cNvSpPr/>
          <p:nvPr/>
        </p:nvSpPr>
        <p:spPr>
          <a:xfrm>
            <a:off x="8337698" y="2427767"/>
            <a:ext cx="1027814" cy="212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Learning Hours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390336" y="2392326"/>
            <a:ext cx="363279" cy="28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37698" y="2786616"/>
            <a:ext cx="3313814" cy="8860"/>
          </a:xfrm>
          <a:prstGeom prst="roundRect">
            <a:avLst>
              <a:gd name="adj" fmla="val 0"/>
            </a:avLst>
          </a:prstGeom>
          <a:solidFill>
            <a:srgbClr val="333333"/>
          </a:solidFill>
        </p:spPr>
      </p:sp>
      <p:sp>
        <p:nvSpPr>
          <p:cNvPr id="37" name="Text 35"/>
          <p:cNvSpPr/>
          <p:nvPr/>
        </p:nvSpPr>
        <p:spPr>
          <a:xfrm>
            <a:off x="8337698" y="2879651"/>
            <a:ext cx="478465" cy="212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Status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902802" y="2861930"/>
            <a:ext cx="753140" cy="248093"/>
          </a:xfrm>
          <a:prstGeom prst="roundRect">
            <a:avLst>
              <a:gd name="adj" fmla="val 50000"/>
            </a:avLst>
          </a:prstGeom>
          <a:solidFill>
            <a:srgbClr val="00C950">
              <a:alpha val="2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10902802" y="2861930"/>
            <a:ext cx="815163" cy="248093"/>
          </a:xfrm>
          <a:prstGeom prst="rect">
            <a:avLst/>
          </a:prstGeom>
          <a:noFill/>
        </p:spPr>
        <p:txBody>
          <a:bodyPr wrap="square" lIns="106326" tIns="35442" rIns="106326" bIns="35442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56058" y="3442291"/>
            <a:ext cx="3677093" cy="2064488"/>
          </a:xfrm>
          <a:prstGeom prst="roundRect">
            <a:avLst>
              <a:gd name="adj" fmla="val 3433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7698" y="3623930"/>
            <a:ext cx="3393558" cy="2480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Concepts Covered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63172" y="4022651"/>
            <a:ext cx="108541" cy="124047"/>
          </a:xfrm>
          <a:custGeom>
            <a:avLst/>
            <a:gdLst/>
            <a:ahLst/>
            <a:cxnLst/>
            <a:rect l="l" t="t" r="r" b="b"/>
            <a:pathLst>
              <a:path w="108541" h="124047">
                <a:moveTo>
                  <a:pt x="105343" y="16984"/>
                </a:moveTo>
                <a:cubicBezTo>
                  <a:pt x="108807" y="19503"/>
                  <a:pt x="109582" y="24349"/>
                  <a:pt x="107063" y="27814"/>
                </a:cubicBezTo>
                <a:lnTo>
                  <a:pt x="45040" y="113096"/>
                </a:lnTo>
                <a:cubicBezTo>
                  <a:pt x="43707" y="114937"/>
                  <a:pt x="41648" y="116076"/>
                  <a:pt x="39370" y="116269"/>
                </a:cubicBezTo>
                <a:cubicBezTo>
                  <a:pt x="37093" y="116463"/>
                  <a:pt x="34888" y="115615"/>
                  <a:pt x="33289" y="114016"/>
                </a:cubicBezTo>
                <a:lnTo>
                  <a:pt x="2277" y="83005"/>
                </a:lnTo>
                <a:cubicBezTo>
                  <a:pt x="-751" y="79976"/>
                  <a:pt x="-751" y="75058"/>
                  <a:pt x="2277" y="72029"/>
                </a:cubicBezTo>
                <a:cubicBezTo>
                  <a:pt x="5306" y="69001"/>
                  <a:pt x="10224" y="69001"/>
                  <a:pt x="13253" y="72029"/>
                </a:cubicBezTo>
                <a:lnTo>
                  <a:pt x="37844" y="96621"/>
                </a:lnTo>
                <a:lnTo>
                  <a:pt x="94537" y="18680"/>
                </a:lnTo>
                <a:cubicBezTo>
                  <a:pt x="97057" y="15215"/>
                  <a:pt x="101902" y="14440"/>
                  <a:pt x="105367" y="16959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43" name="Text 41"/>
          <p:cNvSpPr/>
          <p:nvPr/>
        </p:nvSpPr>
        <p:spPr>
          <a:xfrm>
            <a:off x="8563640" y="3978349"/>
            <a:ext cx="2560674" cy="212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Encouraging vs. discouraging deception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63172" y="4306186"/>
            <a:ext cx="108541" cy="124047"/>
          </a:xfrm>
          <a:custGeom>
            <a:avLst/>
            <a:gdLst/>
            <a:ahLst/>
            <a:cxnLst/>
            <a:rect l="l" t="t" r="r" b="b"/>
            <a:pathLst>
              <a:path w="108541" h="124047">
                <a:moveTo>
                  <a:pt x="105343" y="16984"/>
                </a:moveTo>
                <a:cubicBezTo>
                  <a:pt x="108807" y="19503"/>
                  <a:pt x="109582" y="24349"/>
                  <a:pt x="107063" y="27814"/>
                </a:cubicBezTo>
                <a:lnTo>
                  <a:pt x="45040" y="113096"/>
                </a:lnTo>
                <a:cubicBezTo>
                  <a:pt x="43707" y="114937"/>
                  <a:pt x="41648" y="116076"/>
                  <a:pt x="39370" y="116269"/>
                </a:cubicBezTo>
                <a:cubicBezTo>
                  <a:pt x="37093" y="116463"/>
                  <a:pt x="34888" y="115615"/>
                  <a:pt x="33289" y="114016"/>
                </a:cubicBezTo>
                <a:lnTo>
                  <a:pt x="2277" y="83005"/>
                </a:lnTo>
                <a:cubicBezTo>
                  <a:pt x="-751" y="79976"/>
                  <a:pt x="-751" y="75058"/>
                  <a:pt x="2277" y="72029"/>
                </a:cubicBezTo>
                <a:cubicBezTo>
                  <a:pt x="5306" y="69001"/>
                  <a:pt x="10224" y="69001"/>
                  <a:pt x="13253" y="72029"/>
                </a:cubicBezTo>
                <a:lnTo>
                  <a:pt x="37844" y="96621"/>
                </a:lnTo>
                <a:lnTo>
                  <a:pt x="94537" y="18680"/>
                </a:lnTo>
                <a:cubicBezTo>
                  <a:pt x="97057" y="15215"/>
                  <a:pt x="101902" y="14440"/>
                  <a:pt x="105367" y="16959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45" name="Text 43"/>
          <p:cNvSpPr/>
          <p:nvPr/>
        </p:nvSpPr>
        <p:spPr>
          <a:xfrm>
            <a:off x="8563640" y="4261884"/>
            <a:ext cx="2418907" cy="212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Multi-layered deception architectures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63172" y="4589721"/>
            <a:ext cx="108541" cy="124047"/>
          </a:xfrm>
          <a:custGeom>
            <a:avLst/>
            <a:gdLst/>
            <a:ahLst/>
            <a:cxnLst/>
            <a:rect l="l" t="t" r="r" b="b"/>
            <a:pathLst>
              <a:path w="108541" h="124047">
                <a:moveTo>
                  <a:pt x="105343" y="16984"/>
                </a:moveTo>
                <a:cubicBezTo>
                  <a:pt x="108807" y="19503"/>
                  <a:pt x="109582" y="24349"/>
                  <a:pt x="107063" y="27814"/>
                </a:cubicBezTo>
                <a:lnTo>
                  <a:pt x="45040" y="113096"/>
                </a:lnTo>
                <a:cubicBezTo>
                  <a:pt x="43707" y="114937"/>
                  <a:pt x="41648" y="116076"/>
                  <a:pt x="39370" y="116269"/>
                </a:cubicBezTo>
                <a:cubicBezTo>
                  <a:pt x="37093" y="116463"/>
                  <a:pt x="34888" y="115615"/>
                  <a:pt x="33289" y="114016"/>
                </a:cubicBezTo>
                <a:lnTo>
                  <a:pt x="2277" y="83005"/>
                </a:lnTo>
                <a:cubicBezTo>
                  <a:pt x="-751" y="79976"/>
                  <a:pt x="-751" y="75058"/>
                  <a:pt x="2277" y="72029"/>
                </a:cubicBezTo>
                <a:cubicBezTo>
                  <a:pt x="5306" y="69001"/>
                  <a:pt x="10224" y="69001"/>
                  <a:pt x="13253" y="72029"/>
                </a:cubicBezTo>
                <a:lnTo>
                  <a:pt x="37844" y="96621"/>
                </a:lnTo>
                <a:lnTo>
                  <a:pt x="94537" y="18680"/>
                </a:lnTo>
                <a:cubicBezTo>
                  <a:pt x="97057" y="15215"/>
                  <a:pt x="101902" y="14440"/>
                  <a:pt x="105367" y="16959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47" name="Text 45"/>
          <p:cNvSpPr/>
          <p:nvPr/>
        </p:nvSpPr>
        <p:spPr>
          <a:xfrm>
            <a:off x="8563640" y="4545419"/>
            <a:ext cx="1860698" cy="212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Attacker behaviour influence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63172" y="4873256"/>
            <a:ext cx="108541" cy="124047"/>
          </a:xfrm>
          <a:custGeom>
            <a:avLst/>
            <a:gdLst/>
            <a:ahLst/>
            <a:cxnLst/>
            <a:rect l="l" t="t" r="r" b="b"/>
            <a:pathLst>
              <a:path w="108541" h="124047">
                <a:moveTo>
                  <a:pt x="105343" y="16984"/>
                </a:moveTo>
                <a:cubicBezTo>
                  <a:pt x="108807" y="19503"/>
                  <a:pt x="109582" y="24349"/>
                  <a:pt x="107063" y="27814"/>
                </a:cubicBezTo>
                <a:lnTo>
                  <a:pt x="45040" y="113096"/>
                </a:lnTo>
                <a:cubicBezTo>
                  <a:pt x="43707" y="114937"/>
                  <a:pt x="41648" y="116076"/>
                  <a:pt x="39370" y="116269"/>
                </a:cubicBezTo>
                <a:cubicBezTo>
                  <a:pt x="37093" y="116463"/>
                  <a:pt x="34888" y="115615"/>
                  <a:pt x="33289" y="114016"/>
                </a:cubicBezTo>
                <a:lnTo>
                  <a:pt x="2277" y="83005"/>
                </a:lnTo>
                <a:cubicBezTo>
                  <a:pt x="-751" y="79976"/>
                  <a:pt x="-751" y="75058"/>
                  <a:pt x="2277" y="72029"/>
                </a:cubicBezTo>
                <a:cubicBezTo>
                  <a:pt x="5306" y="69001"/>
                  <a:pt x="10224" y="69001"/>
                  <a:pt x="13253" y="72029"/>
                </a:cubicBezTo>
                <a:lnTo>
                  <a:pt x="37844" y="96621"/>
                </a:lnTo>
                <a:lnTo>
                  <a:pt x="94537" y="18680"/>
                </a:lnTo>
                <a:cubicBezTo>
                  <a:pt x="97057" y="15215"/>
                  <a:pt x="101902" y="14440"/>
                  <a:pt x="105367" y="16959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49" name="Text 47"/>
          <p:cNvSpPr/>
          <p:nvPr/>
        </p:nvSpPr>
        <p:spPr>
          <a:xfrm>
            <a:off x="8563640" y="4828953"/>
            <a:ext cx="2108791" cy="212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Honeynet deployment strategies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63172" y="5156791"/>
            <a:ext cx="108541" cy="124047"/>
          </a:xfrm>
          <a:custGeom>
            <a:avLst/>
            <a:gdLst/>
            <a:ahLst/>
            <a:cxnLst/>
            <a:rect l="l" t="t" r="r" b="b"/>
            <a:pathLst>
              <a:path w="108541" h="124047">
                <a:moveTo>
                  <a:pt x="105343" y="16984"/>
                </a:moveTo>
                <a:cubicBezTo>
                  <a:pt x="108807" y="19503"/>
                  <a:pt x="109582" y="24349"/>
                  <a:pt x="107063" y="27814"/>
                </a:cubicBezTo>
                <a:lnTo>
                  <a:pt x="45040" y="113096"/>
                </a:lnTo>
                <a:cubicBezTo>
                  <a:pt x="43707" y="114937"/>
                  <a:pt x="41648" y="116076"/>
                  <a:pt x="39370" y="116269"/>
                </a:cubicBezTo>
                <a:cubicBezTo>
                  <a:pt x="37093" y="116463"/>
                  <a:pt x="34888" y="115615"/>
                  <a:pt x="33289" y="114016"/>
                </a:cubicBezTo>
                <a:lnTo>
                  <a:pt x="2277" y="83005"/>
                </a:lnTo>
                <a:cubicBezTo>
                  <a:pt x="-751" y="79976"/>
                  <a:pt x="-751" y="75058"/>
                  <a:pt x="2277" y="72029"/>
                </a:cubicBezTo>
                <a:cubicBezTo>
                  <a:pt x="5306" y="69001"/>
                  <a:pt x="10224" y="69001"/>
                  <a:pt x="13253" y="72029"/>
                </a:cubicBezTo>
                <a:lnTo>
                  <a:pt x="37844" y="96621"/>
                </a:lnTo>
                <a:lnTo>
                  <a:pt x="94537" y="18680"/>
                </a:lnTo>
                <a:cubicBezTo>
                  <a:pt x="97057" y="15215"/>
                  <a:pt x="101902" y="14440"/>
                  <a:pt x="105367" y="16959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51" name="Text 49"/>
          <p:cNvSpPr/>
          <p:nvPr/>
        </p:nvSpPr>
        <p:spPr>
          <a:xfrm>
            <a:off x="8563640" y="5112488"/>
            <a:ext cx="1772093" cy="212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Controlled experimentation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56058" y="5657407"/>
            <a:ext cx="3677093" cy="682256"/>
          </a:xfrm>
          <a:prstGeom prst="roundRect">
            <a:avLst>
              <a:gd name="adj" fmla="val 10390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24407" y="5909930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88605" y="0"/>
                </a:moveTo>
                <a:cubicBezTo>
                  <a:pt x="137507" y="0"/>
                  <a:pt x="177209" y="39702"/>
                  <a:pt x="177209" y="88605"/>
                </a:cubicBezTo>
                <a:cubicBezTo>
                  <a:pt x="177209" y="137507"/>
                  <a:pt x="137507" y="177209"/>
                  <a:pt x="88605" y="177209"/>
                </a:cubicBezTo>
                <a:cubicBezTo>
                  <a:pt x="39702" y="177209"/>
                  <a:pt x="0" y="137507"/>
                  <a:pt x="0" y="88605"/>
                </a:cubicBezTo>
                <a:cubicBezTo>
                  <a:pt x="0" y="39702"/>
                  <a:pt x="39702" y="0"/>
                  <a:pt x="88605" y="0"/>
                </a:cubicBezTo>
                <a:close/>
                <a:moveTo>
                  <a:pt x="80298" y="41533"/>
                </a:moveTo>
                <a:lnTo>
                  <a:pt x="80298" y="88605"/>
                </a:lnTo>
                <a:cubicBezTo>
                  <a:pt x="80298" y="91374"/>
                  <a:pt x="81682" y="93969"/>
                  <a:pt x="84001" y="95527"/>
                </a:cubicBezTo>
                <a:lnTo>
                  <a:pt x="117228" y="117678"/>
                </a:lnTo>
                <a:cubicBezTo>
                  <a:pt x="121035" y="120239"/>
                  <a:pt x="126192" y="119201"/>
                  <a:pt x="128754" y="115359"/>
                </a:cubicBezTo>
                <a:cubicBezTo>
                  <a:pt x="131315" y="111517"/>
                  <a:pt x="130277" y="106395"/>
                  <a:pt x="126435" y="103834"/>
                </a:cubicBezTo>
                <a:lnTo>
                  <a:pt x="96911" y="84174"/>
                </a:lnTo>
                <a:lnTo>
                  <a:pt x="96911" y="41533"/>
                </a:lnTo>
                <a:cubicBezTo>
                  <a:pt x="96911" y="36930"/>
                  <a:pt x="93208" y="33227"/>
                  <a:pt x="88605" y="33227"/>
                </a:cubicBezTo>
                <a:cubicBezTo>
                  <a:pt x="84001" y="33227"/>
                  <a:pt x="80298" y="36930"/>
                  <a:pt x="80298" y="41533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54" name="Text 52"/>
          <p:cNvSpPr/>
          <p:nvPr/>
        </p:nvSpPr>
        <p:spPr>
          <a:xfrm>
            <a:off x="8630093" y="5803605"/>
            <a:ext cx="673395" cy="1772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630093" y="5980814"/>
            <a:ext cx="682256" cy="212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 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COMPLETED MILESTONE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Milestone 2: Architecture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31750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5" name="Shape 3"/>
          <p:cNvSpPr/>
          <p:nvPr/>
        </p:nvSpPr>
        <p:spPr>
          <a:xfrm>
            <a:off x="321469" y="1178719"/>
            <a:ext cx="6850063" cy="3627438"/>
          </a:xfrm>
          <a:prstGeom prst="roundRect">
            <a:avLst>
              <a:gd name="adj" fmla="val 1751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187" y="1341438"/>
            <a:ext cx="22066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System Architecture Overview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55779" y="1341438"/>
            <a:ext cx="849313" cy="222250"/>
          </a:xfrm>
          <a:prstGeom prst="roundRect">
            <a:avLst>
              <a:gd name="adj" fmla="val 50000"/>
            </a:avLst>
          </a:prstGeom>
          <a:solidFill>
            <a:srgbClr val="00C950">
              <a:alpha val="20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6155779" y="1341438"/>
            <a:ext cx="904875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0063" y="1690688"/>
            <a:ext cx="6508750" cy="920750"/>
          </a:xfrm>
          <a:custGeom>
            <a:avLst/>
            <a:gdLst/>
            <a:ahLst/>
            <a:cxnLst/>
            <a:rect l="l" t="t" r="r" b="b"/>
            <a:pathLst>
              <a:path w="6508750" h="920750">
                <a:moveTo>
                  <a:pt x="0" y="0"/>
                </a:moveTo>
                <a:lnTo>
                  <a:pt x="6445250" y="0"/>
                </a:lnTo>
                <a:cubicBezTo>
                  <a:pt x="6480297" y="0"/>
                  <a:pt x="6508750" y="28453"/>
                  <a:pt x="6508750" y="63500"/>
                </a:cubicBezTo>
                <a:lnTo>
                  <a:pt x="6508750" y="857250"/>
                </a:lnTo>
                <a:cubicBezTo>
                  <a:pt x="6508750" y="892297"/>
                  <a:pt x="6480297" y="920750"/>
                  <a:pt x="6445250" y="920750"/>
                </a:cubicBez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191919"/>
          </a:solidFill>
        </p:spPr>
      </p:sp>
      <p:sp>
        <p:nvSpPr>
          <p:cNvPr id="10" name="Shape 8"/>
          <p:cNvSpPr/>
          <p:nvPr/>
        </p:nvSpPr>
        <p:spPr>
          <a:xfrm>
            <a:off x="500063" y="1690688"/>
            <a:ext cx="31750" cy="920750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11" name="Shape 9"/>
          <p:cNvSpPr/>
          <p:nvPr/>
        </p:nvSpPr>
        <p:spPr>
          <a:xfrm>
            <a:off x="642938" y="1817688"/>
            <a:ext cx="381000" cy="38100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765225" y="1897063"/>
            <a:ext cx="206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0938" y="1817688"/>
            <a:ext cx="5794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Network Deception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0938" y="2039938"/>
            <a:ext cx="5794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T-Pot CE platform with SSH, HTTP, SMB services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50938" y="2293938"/>
            <a:ext cx="508000" cy="19050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1150938" y="2293938"/>
            <a:ext cx="555625" cy="19050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T-Pot 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721817" y="2293938"/>
            <a:ext cx="317500" cy="19050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1721817" y="2293938"/>
            <a:ext cx="365125" cy="19050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SSH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099035" y="2293938"/>
            <a:ext cx="373063" cy="19050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2099035" y="2293938"/>
            <a:ext cx="420688" cy="19050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HTTP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0063" y="2706688"/>
            <a:ext cx="6508750" cy="920750"/>
          </a:xfrm>
          <a:custGeom>
            <a:avLst/>
            <a:gdLst/>
            <a:ahLst/>
            <a:cxnLst/>
            <a:rect l="l" t="t" r="r" b="b"/>
            <a:pathLst>
              <a:path w="6508750" h="920750">
                <a:moveTo>
                  <a:pt x="0" y="0"/>
                </a:moveTo>
                <a:lnTo>
                  <a:pt x="6445250" y="0"/>
                </a:lnTo>
                <a:cubicBezTo>
                  <a:pt x="6480297" y="0"/>
                  <a:pt x="6508750" y="28453"/>
                  <a:pt x="6508750" y="63500"/>
                </a:cubicBezTo>
                <a:lnTo>
                  <a:pt x="6508750" y="857250"/>
                </a:lnTo>
                <a:cubicBezTo>
                  <a:pt x="6508750" y="892297"/>
                  <a:pt x="6480297" y="920750"/>
                  <a:pt x="6445250" y="920750"/>
                </a:cubicBez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191919"/>
          </a:solidFill>
        </p:spPr>
      </p:sp>
      <p:sp>
        <p:nvSpPr>
          <p:cNvPr id="22" name="Shape 20"/>
          <p:cNvSpPr/>
          <p:nvPr/>
        </p:nvSpPr>
        <p:spPr>
          <a:xfrm>
            <a:off x="500063" y="2706688"/>
            <a:ext cx="31750" cy="920750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23" name="Shape 21"/>
          <p:cNvSpPr/>
          <p:nvPr/>
        </p:nvSpPr>
        <p:spPr>
          <a:xfrm>
            <a:off x="642938" y="2833688"/>
            <a:ext cx="381000" cy="38100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752326" y="2913063"/>
            <a:ext cx="2301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0938" y="2833688"/>
            <a:ext cx="5794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Host Deception Layer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50938" y="3055938"/>
            <a:ext cx="5794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GOAD Active Directory + Windows enterprise hosts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50938" y="3309938"/>
            <a:ext cx="396875" cy="19050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1150938" y="3309938"/>
            <a:ext cx="444500" cy="19050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GOAD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607406" y="3309938"/>
            <a:ext cx="254000" cy="19050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1607406" y="3309938"/>
            <a:ext cx="301625" cy="19050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927882" y="3309938"/>
            <a:ext cx="523875" cy="19050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1927882" y="3309938"/>
            <a:ext cx="571500" cy="19050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Windows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0063" y="3722688"/>
            <a:ext cx="6508750" cy="920750"/>
          </a:xfrm>
          <a:custGeom>
            <a:avLst/>
            <a:gdLst/>
            <a:ahLst/>
            <a:cxnLst/>
            <a:rect l="l" t="t" r="r" b="b"/>
            <a:pathLst>
              <a:path w="6508750" h="920750">
                <a:moveTo>
                  <a:pt x="0" y="0"/>
                </a:moveTo>
                <a:lnTo>
                  <a:pt x="6445250" y="0"/>
                </a:lnTo>
                <a:cubicBezTo>
                  <a:pt x="6480297" y="0"/>
                  <a:pt x="6508750" y="28453"/>
                  <a:pt x="6508750" y="63500"/>
                </a:cubicBezTo>
                <a:lnTo>
                  <a:pt x="6508750" y="857250"/>
                </a:lnTo>
                <a:cubicBezTo>
                  <a:pt x="6508750" y="892297"/>
                  <a:pt x="6480297" y="920750"/>
                  <a:pt x="6445250" y="920750"/>
                </a:cubicBez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191919"/>
          </a:solidFill>
        </p:spPr>
      </p:sp>
      <p:sp>
        <p:nvSpPr>
          <p:cNvPr id="34" name="Shape 32"/>
          <p:cNvSpPr/>
          <p:nvPr/>
        </p:nvSpPr>
        <p:spPr>
          <a:xfrm>
            <a:off x="500063" y="3722688"/>
            <a:ext cx="31750" cy="920750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35" name="Shape 33"/>
          <p:cNvSpPr/>
          <p:nvPr/>
        </p:nvSpPr>
        <p:spPr>
          <a:xfrm>
            <a:off x="642938" y="3849688"/>
            <a:ext cx="381000" cy="38100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751706" y="3929063"/>
            <a:ext cx="238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50938" y="3849688"/>
            <a:ext cx="5794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Deception Layer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50938" y="4071938"/>
            <a:ext cx="5794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HoneyLambda + decoy S3 buckets with fake API keys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50938" y="4325938"/>
            <a:ext cx="746125" cy="19050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1150938" y="4325938"/>
            <a:ext cx="793750" cy="19050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HoneyLambda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957648" y="4325938"/>
            <a:ext cx="238125" cy="19050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1957648" y="4325938"/>
            <a:ext cx="285750" cy="19050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S3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2262870" y="4325938"/>
            <a:ext cx="500063" cy="19050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2262870" y="4325938"/>
            <a:ext cx="547688" cy="19050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API Keys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21469" y="4941094"/>
            <a:ext cx="6850063" cy="992188"/>
          </a:xfrm>
          <a:prstGeom prst="roundRect">
            <a:avLst>
              <a:gd name="adj" fmla="val 6400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2438" y="5072063"/>
            <a:ext cx="66595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Deception Control Plane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2438" y="5389563"/>
            <a:ext cx="6651625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Conditional activation system that </a:t>
            </a:r>
            <a:r>
              <a:rPr lang="en-US" sz="1000" dirty="0">
                <a:solidFill>
                  <a:srgbClr val="6366F1"/>
                </a:solidFill>
                <a:highlight>
                  <a:srgbClr val="6366F1">
                    <a:alpha val="20000"/>
                  </a:srgbClr>
                </a:highligh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exposes deeper layers based on attacker actions </a:t>
            </a:r>
            <a:r>
              <a:rPr lang="en-US" sz="10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(login success, command execution, credential interaction).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369969" y="1178719"/>
            <a:ext cx="4500563" cy="1770063"/>
          </a:xfrm>
          <a:prstGeom prst="roundRect">
            <a:avLst>
              <a:gd name="adj" fmla="val 3587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32687" y="1341438"/>
            <a:ext cx="42465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Milestone Details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532687" y="1690688"/>
            <a:ext cx="539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Timeline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282598" y="1690688"/>
            <a:ext cx="49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 3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32687" y="1912938"/>
            <a:ext cx="4175125" cy="63500"/>
          </a:xfrm>
          <a:prstGeom prst="roundRect">
            <a:avLst>
              <a:gd name="adj" fmla="val 50000"/>
            </a:avLst>
          </a:prstGeom>
          <a:solidFill>
            <a:srgbClr val="333333"/>
          </a:solidFill>
        </p:spPr>
      </p:sp>
      <p:sp>
        <p:nvSpPr>
          <p:cNvPr id="53" name="Shape 51"/>
          <p:cNvSpPr/>
          <p:nvPr/>
        </p:nvSpPr>
        <p:spPr>
          <a:xfrm>
            <a:off x="7532687" y="1912938"/>
            <a:ext cx="4175125" cy="635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</p:spPr>
      </p:sp>
      <p:sp>
        <p:nvSpPr>
          <p:cNvPr id="54" name="Shape 52"/>
          <p:cNvSpPr/>
          <p:nvPr/>
        </p:nvSpPr>
        <p:spPr>
          <a:xfrm>
            <a:off x="7532687" y="2075656"/>
            <a:ext cx="4175125" cy="7938"/>
          </a:xfrm>
          <a:prstGeom prst="roundRect">
            <a:avLst>
              <a:gd name="adj" fmla="val 0"/>
            </a:avLst>
          </a:prstGeom>
          <a:solidFill>
            <a:srgbClr val="333333"/>
          </a:solidFill>
        </p:spPr>
      </p:sp>
      <p:sp>
        <p:nvSpPr>
          <p:cNvPr id="55" name="Text 53"/>
          <p:cNvSpPr/>
          <p:nvPr/>
        </p:nvSpPr>
        <p:spPr>
          <a:xfrm>
            <a:off x="7532687" y="2174875"/>
            <a:ext cx="920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Learning Hours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487361" y="2143125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25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532687" y="2496344"/>
            <a:ext cx="4175125" cy="7938"/>
          </a:xfrm>
          <a:prstGeom prst="roundRect">
            <a:avLst>
              <a:gd name="adj" fmla="val 0"/>
            </a:avLst>
          </a:prstGeom>
          <a:solidFill>
            <a:srgbClr val="333333"/>
          </a:solidFill>
        </p:spPr>
      </p:sp>
      <p:sp>
        <p:nvSpPr>
          <p:cNvPr id="58" name="Text 56"/>
          <p:cNvSpPr/>
          <p:nvPr/>
        </p:nvSpPr>
        <p:spPr>
          <a:xfrm>
            <a:off x="7532687" y="2579688"/>
            <a:ext cx="42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Status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037094" y="2563813"/>
            <a:ext cx="674688" cy="222250"/>
          </a:xfrm>
          <a:prstGeom prst="roundRect">
            <a:avLst>
              <a:gd name="adj" fmla="val 50000"/>
            </a:avLst>
          </a:prstGeom>
          <a:solidFill>
            <a:srgbClr val="00C950">
              <a:alpha val="20000"/>
            </a:srgbClr>
          </a:solidFill>
        </p:spPr>
      </p:sp>
      <p:sp>
        <p:nvSpPr>
          <p:cNvPr id="60" name="Text 58"/>
          <p:cNvSpPr/>
          <p:nvPr/>
        </p:nvSpPr>
        <p:spPr>
          <a:xfrm>
            <a:off x="11037094" y="2563813"/>
            <a:ext cx="730250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369969" y="3083719"/>
            <a:ext cx="4500563" cy="2841625"/>
          </a:xfrm>
          <a:prstGeom prst="roundRect">
            <a:avLst>
              <a:gd name="adj" fmla="val 2235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32687" y="3246438"/>
            <a:ext cx="42465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5-VM Deployment Layout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532687" y="3563938"/>
            <a:ext cx="4175125" cy="317500"/>
          </a:xfrm>
          <a:prstGeom prst="roundRect">
            <a:avLst>
              <a:gd name="adj" fmla="val 10000"/>
            </a:avLst>
          </a:prstGeom>
          <a:solidFill>
            <a:srgbClr val="191919"/>
          </a:solidFill>
        </p:spPr>
      </p:sp>
      <p:sp>
        <p:nvSpPr>
          <p:cNvPr id="64" name="Text 62"/>
          <p:cNvSpPr/>
          <p:nvPr/>
        </p:nvSpPr>
        <p:spPr>
          <a:xfrm>
            <a:off x="7596187" y="3627438"/>
            <a:ext cx="44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LOG01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167876" y="3643313"/>
            <a:ext cx="531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4GB RAM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532687" y="3944937"/>
            <a:ext cx="4175125" cy="317500"/>
          </a:xfrm>
          <a:prstGeom prst="roundRect">
            <a:avLst>
              <a:gd name="adj" fmla="val 10000"/>
            </a:avLst>
          </a:prstGeom>
          <a:solidFill>
            <a:srgbClr val="191919"/>
          </a:solidFill>
        </p:spPr>
      </p:sp>
      <p:sp>
        <p:nvSpPr>
          <p:cNvPr id="67" name="Text 65"/>
          <p:cNvSpPr/>
          <p:nvPr/>
        </p:nvSpPr>
        <p:spPr>
          <a:xfrm>
            <a:off x="7596187" y="4008438"/>
            <a:ext cx="515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TPOT01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165086" y="4024313"/>
            <a:ext cx="531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8GB RAM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532687" y="4325938"/>
            <a:ext cx="4175125" cy="317500"/>
          </a:xfrm>
          <a:prstGeom prst="roundRect">
            <a:avLst>
              <a:gd name="adj" fmla="val 10000"/>
            </a:avLst>
          </a:prstGeom>
          <a:solidFill>
            <a:srgbClr val="191919"/>
          </a:solidFill>
        </p:spPr>
      </p:sp>
      <p:sp>
        <p:nvSpPr>
          <p:cNvPr id="70" name="Text 68"/>
          <p:cNvSpPr/>
          <p:nvPr/>
        </p:nvSpPr>
        <p:spPr>
          <a:xfrm>
            <a:off x="7596187" y="4389438"/>
            <a:ext cx="373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DC01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1166884" y="4405313"/>
            <a:ext cx="531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6GB RAM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532687" y="4706938"/>
            <a:ext cx="4175125" cy="317500"/>
          </a:xfrm>
          <a:prstGeom prst="roundRect">
            <a:avLst>
              <a:gd name="adj" fmla="val 10000"/>
            </a:avLst>
          </a:prstGeom>
          <a:solidFill>
            <a:srgbClr val="191919"/>
          </a:solidFill>
        </p:spPr>
      </p:sp>
      <p:sp>
        <p:nvSpPr>
          <p:cNvPr id="73" name="Text 71"/>
          <p:cNvSpPr/>
          <p:nvPr/>
        </p:nvSpPr>
        <p:spPr>
          <a:xfrm>
            <a:off x="7596187" y="4770438"/>
            <a:ext cx="39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WS01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167876" y="4786313"/>
            <a:ext cx="531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4GB RAM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7532687" y="5087938"/>
            <a:ext cx="4175125" cy="317500"/>
          </a:xfrm>
          <a:prstGeom prst="roundRect">
            <a:avLst>
              <a:gd name="adj" fmla="val 10000"/>
            </a:avLst>
          </a:prstGeom>
          <a:solidFill>
            <a:srgbClr val="191919"/>
          </a:solidFill>
        </p:spPr>
      </p:sp>
      <p:sp>
        <p:nvSpPr>
          <p:cNvPr id="76" name="Text 74"/>
          <p:cNvSpPr/>
          <p:nvPr/>
        </p:nvSpPr>
        <p:spPr>
          <a:xfrm>
            <a:off x="7596187" y="5151438"/>
            <a:ext cx="341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FS01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1167876" y="5167313"/>
            <a:ext cx="531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4GB RAM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532687" y="5472906"/>
            <a:ext cx="4175125" cy="7938"/>
          </a:xfrm>
          <a:prstGeom prst="roundRect">
            <a:avLst>
              <a:gd name="adj" fmla="val 0"/>
            </a:avLst>
          </a:prstGeom>
          <a:solidFill>
            <a:srgbClr val="333333"/>
          </a:solidFill>
        </p:spPr>
      </p:sp>
      <p:sp>
        <p:nvSpPr>
          <p:cNvPr id="79" name="Text 77"/>
          <p:cNvSpPr/>
          <p:nvPr/>
        </p:nvSpPr>
        <p:spPr>
          <a:xfrm>
            <a:off x="7532687" y="5556250"/>
            <a:ext cx="650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Total RAM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1322162" y="5540375"/>
            <a:ext cx="460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26 GB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7369969" y="6060281"/>
            <a:ext cx="4500563" cy="611188"/>
          </a:xfrm>
          <a:prstGeom prst="roundRect">
            <a:avLst>
              <a:gd name="adj" fmla="val 10390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520781" y="6286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ubicBezTo>
                  <a:pt x="0" y="35567"/>
                  <a:pt x="35567" y="0"/>
                  <a:pt x="79375" y="0"/>
                </a:cubicBezTo>
                <a:close/>
                <a:moveTo>
                  <a:pt x="71934" y="37207"/>
                </a:moveTo>
                <a:lnTo>
                  <a:pt x="71934" y="79375"/>
                </a:lnTo>
                <a:cubicBezTo>
                  <a:pt x="71934" y="81855"/>
                  <a:pt x="73174" y="84181"/>
                  <a:pt x="75251" y="85576"/>
                </a:cubicBezTo>
                <a:lnTo>
                  <a:pt x="105017" y="105420"/>
                </a:lnTo>
                <a:cubicBezTo>
                  <a:pt x="108427" y="107714"/>
                  <a:pt x="113047" y="106784"/>
                  <a:pt x="115342" y="103343"/>
                </a:cubicBezTo>
                <a:cubicBezTo>
                  <a:pt x="117636" y="99901"/>
                  <a:pt x="116706" y="95312"/>
                  <a:pt x="113264" y="93018"/>
                </a:cubicBezTo>
                <a:lnTo>
                  <a:pt x="86816" y="75406"/>
                </a:lnTo>
                <a:lnTo>
                  <a:pt x="86816" y="37207"/>
                </a:lnTo>
                <a:cubicBezTo>
                  <a:pt x="86816" y="33083"/>
                  <a:pt x="83499" y="29766"/>
                  <a:pt x="79375" y="29766"/>
                </a:cubicBezTo>
                <a:cubicBezTo>
                  <a:pt x="75251" y="29766"/>
                  <a:pt x="71934" y="33083"/>
                  <a:pt x="71934" y="37207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83" name="Text 81"/>
          <p:cNvSpPr/>
          <p:nvPr/>
        </p:nvSpPr>
        <p:spPr>
          <a:xfrm>
            <a:off x="7794625" y="6191250"/>
            <a:ext cx="603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7794625" y="6350000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 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679" y="343679"/>
            <a:ext cx="11573378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kern="0" spc="54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PROGRESS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3679" y="618622"/>
            <a:ext cx="11659298" cy="3436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30% Complete — On Track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3679" y="1065404"/>
            <a:ext cx="687357" cy="34368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5" name="Shape 3"/>
          <p:cNvSpPr/>
          <p:nvPr/>
        </p:nvSpPr>
        <p:spPr>
          <a:xfrm>
            <a:off x="347975" y="1275907"/>
            <a:ext cx="2431526" cy="1245835"/>
          </a:xfrm>
          <a:prstGeom prst="roundRect">
            <a:avLst>
              <a:gd name="adj" fmla="val 5517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1006" y="1452042"/>
            <a:ext cx="2285463" cy="4124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4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r>
              <a:rPr lang="en-US" sz="1625" b="1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/10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9742" y="1933192"/>
            <a:ext cx="2147992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Milestones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4038" y="2173767"/>
            <a:ext cx="2139400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6773" y="1275907"/>
            <a:ext cx="2431526" cy="1245835"/>
          </a:xfrm>
          <a:prstGeom prst="roundRect">
            <a:avLst>
              <a:gd name="adj" fmla="val 5517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804" y="1452042"/>
            <a:ext cx="2285463" cy="4124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4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80</a:t>
            </a:r>
            <a:r>
              <a:rPr lang="en-US" sz="1625" b="1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/300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8540" y="1933192"/>
            <a:ext cx="2147992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Learning Hours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72836" y="2173767"/>
            <a:ext cx="2139400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Invested (26.7%)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05638" y="1275907"/>
            <a:ext cx="2431526" cy="1245835"/>
          </a:xfrm>
          <a:prstGeom prst="roundRect">
            <a:avLst>
              <a:gd name="adj" fmla="val 5517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8670" y="1452042"/>
            <a:ext cx="2285463" cy="4124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4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r>
              <a:rPr lang="en-US" sz="1625" b="1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/12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47405" y="1933192"/>
            <a:ext cx="2147992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51701" y="2173767"/>
            <a:ext cx="2139400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Elapsed (33.3%)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7975" y="2702173"/>
            <a:ext cx="7586706" cy="2878309"/>
          </a:xfrm>
          <a:prstGeom prst="roundRect">
            <a:avLst>
              <a:gd name="adj" fmla="val 2388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4110" y="2878309"/>
            <a:ext cx="7320355" cy="240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Timeline Progress</a:t>
            </a:r>
            <a:endParaRPr lang="en-US" sz="1600" dirty="0"/>
          </a:p>
        </p:txBody>
      </p:sp>
      <p:pic>
        <p:nvPicPr>
          <p:cNvPr id="19" name="Image 0" descr="https://kimi-img.moonshot.cn/pub/slides/26-04-21-14:39:27-d7jhn7q7ch94sg896if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24110" y="3256355"/>
            <a:ext cx="6443975" cy="2147992"/>
          </a:xfrm>
          <a:prstGeom prst="roundRect">
            <a:avLst>
              <a:gd name="adj" fmla="val 0"/>
            </a:avLst>
          </a:prstGeom>
        </p:spPr>
      </p:pic>
      <p:sp>
        <p:nvSpPr>
          <p:cNvPr id="20" name="Shape 17"/>
          <p:cNvSpPr/>
          <p:nvPr/>
        </p:nvSpPr>
        <p:spPr>
          <a:xfrm>
            <a:off x="8153239" y="1275907"/>
            <a:ext cx="3685953" cy="2070664"/>
          </a:xfrm>
          <a:prstGeom prst="roundRect">
            <a:avLst>
              <a:gd name="adj" fmla="val 3320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29374" y="1452042"/>
            <a:ext cx="3411011" cy="240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Completion Status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29374" y="1830089"/>
            <a:ext cx="1065404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Overall Progress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387040" y="1830089"/>
            <a:ext cx="343679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30%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329374" y="2105032"/>
            <a:ext cx="3333683" cy="103104"/>
          </a:xfrm>
          <a:prstGeom prst="roundRect">
            <a:avLst>
              <a:gd name="adj" fmla="val 50000"/>
            </a:avLst>
          </a:prstGeom>
          <a:solidFill>
            <a:srgbClr val="333333"/>
          </a:solidFill>
        </p:spPr>
      </p:sp>
      <p:sp>
        <p:nvSpPr>
          <p:cNvPr id="25" name="Shape 22"/>
          <p:cNvSpPr/>
          <p:nvPr/>
        </p:nvSpPr>
        <p:spPr>
          <a:xfrm>
            <a:off x="8329374" y="2105032"/>
            <a:ext cx="996668" cy="10310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366F1"/>
              </a:gs>
              <a:gs pos="100000">
                <a:srgbClr val="6366F1">
                  <a:alpha val="70000"/>
                </a:srgbClr>
              </a:gs>
            </a:gsLst>
            <a:lin ang="0" scaled="1"/>
          </a:gradFill>
        </p:spPr>
      </p:sp>
      <p:sp>
        <p:nvSpPr>
          <p:cNvPr id="26" name="Text 23"/>
          <p:cNvSpPr/>
          <p:nvPr/>
        </p:nvSpPr>
        <p:spPr>
          <a:xfrm>
            <a:off x="8329374" y="2311239"/>
            <a:ext cx="884973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 Elapsed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280916" y="2311239"/>
            <a:ext cx="455374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33.3%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329374" y="2586182"/>
            <a:ext cx="3333683" cy="103104"/>
          </a:xfrm>
          <a:prstGeom prst="roundRect">
            <a:avLst>
              <a:gd name="adj" fmla="val 50000"/>
            </a:avLst>
          </a:prstGeom>
          <a:solidFill>
            <a:srgbClr val="333333"/>
          </a:solidFill>
        </p:spPr>
      </p:sp>
      <p:sp>
        <p:nvSpPr>
          <p:cNvPr id="29" name="Shape 26"/>
          <p:cNvSpPr/>
          <p:nvPr/>
        </p:nvSpPr>
        <p:spPr>
          <a:xfrm>
            <a:off x="8329374" y="2586182"/>
            <a:ext cx="1108364" cy="10310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366F1"/>
              </a:gs>
              <a:gs pos="100000">
                <a:srgbClr val="6366F1">
                  <a:alpha val="70000"/>
                </a:srgbClr>
              </a:gs>
            </a:gsLst>
            <a:lin ang="0" scaled="1"/>
          </a:gradFill>
        </p:spPr>
      </p:sp>
      <p:sp>
        <p:nvSpPr>
          <p:cNvPr id="30" name="Text 27"/>
          <p:cNvSpPr/>
          <p:nvPr/>
        </p:nvSpPr>
        <p:spPr>
          <a:xfrm>
            <a:off x="8329374" y="2792389"/>
            <a:ext cx="988076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Hours Invested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291790" y="2792389"/>
            <a:ext cx="438190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26.7%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329374" y="3067332"/>
            <a:ext cx="3333683" cy="103104"/>
          </a:xfrm>
          <a:prstGeom prst="roundRect">
            <a:avLst>
              <a:gd name="adj" fmla="val 50000"/>
            </a:avLst>
          </a:prstGeom>
          <a:solidFill>
            <a:srgbClr val="333333"/>
          </a:solidFill>
        </p:spPr>
      </p:sp>
      <p:sp>
        <p:nvSpPr>
          <p:cNvPr id="33" name="Shape 30"/>
          <p:cNvSpPr/>
          <p:nvPr/>
        </p:nvSpPr>
        <p:spPr>
          <a:xfrm>
            <a:off x="8329374" y="3067332"/>
            <a:ext cx="893564" cy="10310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366F1"/>
              </a:gs>
              <a:gs pos="100000">
                <a:srgbClr val="6366F1">
                  <a:alpha val="70000"/>
                </a:srgbClr>
              </a:gs>
            </a:gsLst>
            <a:lin ang="0" scaled="1"/>
          </a:gradFill>
        </p:spPr>
      </p:sp>
      <p:sp>
        <p:nvSpPr>
          <p:cNvPr id="34" name="Shape 31"/>
          <p:cNvSpPr/>
          <p:nvPr/>
        </p:nvSpPr>
        <p:spPr>
          <a:xfrm>
            <a:off x="8153239" y="3492634"/>
            <a:ext cx="3685953" cy="2001928"/>
          </a:xfrm>
          <a:prstGeom prst="roundRect">
            <a:avLst>
              <a:gd name="adj" fmla="val 3433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29374" y="3668770"/>
            <a:ext cx="3411011" cy="240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346558" y="4046816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68736" y="137471"/>
                </a:moveTo>
                <a:cubicBezTo>
                  <a:pt x="106672" y="137471"/>
                  <a:pt x="137471" y="106672"/>
                  <a:pt x="137471" y="68736"/>
                </a:cubicBezTo>
                <a:cubicBezTo>
                  <a:pt x="137471" y="30799"/>
                  <a:pt x="106672" y="0"/>
                  <a:pt x="68736" y="0"/>
                </a:cubicBezTo>
                <a:cubicBezTo>
                  <a:pt x="30799" y="0"/>
                  <a:pt x="0" y="30799"/>
                  <a:pt x="0" y="68736"/>
                </a:cubicBezTo>
                <a:cubicBezTo>
                  <a:pt x="0" y="106672"/>
                  <a:pt x="30799" y="137471"/>
                  <a:pt x="68736" y="137471"/>
                </a:cubicBezTo>
                <a:close/>
                <a:moveTo>
                  <a:pt x="91397" y="57110"/>
                </a:moveTo>
                <a:lnTo>
                  <a:pt x="69917" y="91478"/>
                </a:lnTo>
                <a:cubicBezTo>
                  <a:pt x="68789" y="93277"/>
                  <a:pt x="66856" y="94404"/>
                  <a:pt x="64735" y="94512"/>
                </a:cubicBezTo>
                <a:cubicBezTo>
                  <a:pt x="62614" y="94619"/>
                  <a:pt x="60573" y="93652"/>
                  <a:pt x="59311" y="91934"/>
                </a:cubicBezTo>
                <a:lnTo>
                  <a:pt x="46423" y="74750"/>
                </a:lnTo>
                <a:cubicBezTo>
                  <a:pt x="44275" y="71904"/>
                  <a:pt x="44866" y="67877"/>
                  <a:pt x="47712" y="65729"/>
                </a:cubicBezTo>
                <a:cubicBezTo>
                  <a:pt x="50558" y="63581"/>
                  <a:pt x="54586" y="64171"/>
                  <a:pt x="56734" y="67017"/>
                </a:cubicBezTo>
                <a:lnTo>
                  <a:pt x="63983" y="76683"/>
                </a:lnTo>
                <a:lnTo>
                  <a:pt x="80469" y="50290"/>
                </a:lnTo>
                <a:cubicBezTo>
                  <a:pt x="82349" y="47283"/>
                  <a:pt x="86322" y="46343"/>
                  <a:pt x="89356" y="48249"/>
                </a:cubicBezTo>
                <a:cubicBezTo>
                  <a:pt x="92390" y="50156"/>
                  <a:pt x="93303" y="54103"/>
                  <a:pt x="91397" y="57137"/>
                </a:cubicBezTo>
                <a:close/>
              </a:path>
            </a:pathLst>
          </a:custGeom>
          <a:solidFill>
            <a:srgbClr val="05DF72"/>
          </a:solidFill>
        </p:spPr>
      </p:sp>
      <p:sp>
        <p:nvSpPr>
          <p:cNvPr id="37" name="Text 34"/>
          <p:cNvSpPr/>
          <p:nvPr/>
        </p:nvSpPr>
        <p:spPr>
          <a:xfrm>
            <a:off x="8604317" y="4012448"/>
            <a:ext cx="2809573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Literature review completed with key findings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346558" y="4321759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68736" y="137471"/>
                </a:moveTo>
                <a:cubicBezTo>
                  <a:pt x="106672" y="137471"/>
                  <a:pt x="137471" y="106672"/>
                  <a:pt x="137471" y="68736"/>
                </a:cubicBezTo>
                <a:cubicBezTo>
                  <a:pt x="137471" y="30799"/>
                  <a:pt x="106672" y="0"/>
                  <a:pt x="68736" y="0"/>
                </a:cubicBezTo>
                <a:cubicBezTo>
                  <a:pt x="30799" y="0"/>
                  <a:pt x="0" y="30799"/>
                  <a:pt x="0" y="68736"/>
                </a:cubicBezTo>
                <a:cubicBezTo>
                  <a:pt x="0" y="106672"/>
                  <a:pt x="30799" y="137471"/>
                  <a:pt x="68736" y="137471"/>
                </a:cubicBezTo>
                <a:close/>
                <a:moveTo>
                  <a:pt x="91397" y="57110"/>
                </a:moveTo>
                <a:lnTo>
                  <a:pt x="69917" y="91478"/>
                </a:lnTo>
                <a:cubicBezTo>
                  <a:pt x="68789" y="93277"/>
                  <a:pt x="66856" y="94404"/>
                  <a:pt x="64735" y="94512"/>
                </a:cubicBezTo>
                <a:cubicBezTo>
                  <a:pt x="62614" y="94619"/>
                  <a:pt x="60573" y="93652"/>
                  <a:pt x="59311" y="91934"/>
                </a:cubicBezTo>
                <a:lnTo>
                  <a:pt x="46423" y="74750"/>
                </a:lnTo>
                <a:cubicBezTo>
                  <a:pt x="44275" y="71904"/>
                  <a:pt x="44866" y="67877"/>
                  <a:pt x="47712" y="65729"/>
                </a:cubicBezTo>
                <a:cubicBezTo>
                  <a:pt x="50558" y="63581"/>
                  <a:pt x="54586" y="64171"/>
                  <a:pt x="56734" y="67017"/>
                </a:cubicBezTo>
                <a:lnTo>
                  <a:pt x="63983" y="76683"/>
                </a:lnTo>
                <a:lnTo>
                  <a:pt x="80469" y="50290"/>
                </a:lnTo>
                <a:cubicBezTo>
                  <a:pt x="82349" y="47283"/>
                  <a:pt x="86322" y="46343"/>
                  <a:pt x="89356" y="48249"/>
                </a:cubicBezTo>
                <a:cubicBezTo>
                  <a:pt x="92390" y="50156"/>
                  <a:pt x="93303" y="54103"/>
                  <a:pt x="91397" y="57137"/>
                </a:cubicBezTo>
                <a:close/>
              </a:path>
            </a:pathLst>
          </a:custGeom>
          <a:solidFill>
            <a:srgbClr val="05DF72"/>
          </a:solidFill>
        </p:spPr>
      </p:sp>
      <p:sp>
        <p:nvSpPr>
          <p:cNvPr id="39" name="Text 36"/>
          <p:cNvSpPr/>
          <p:nvPr/>
        </p:nvSpPr>
        <p:spPr>
          <a:xfrm>
            <a:off x="8604317" y="4287391"/>
            <a:ext cx="2122216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Three-layer architecture designed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346558" y="4596702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68736" y="137471"/>
                </a:moveTo>
                <a:cubicBezTo>
                  <a:pt x="106672" y="137471"/>
                  <a:pt x="137471" y="106672"/>
                  <a:pt x="137471" y="68736"/>
                </a:cubicBezTo>
                <a:cubicBezTo>
                  <a:pt x="137471" y="30799"/>
                  <a:pt x="106672" y="0"/>
                  <a:pt x="68736" y="0"/>
                </a:cubicBezTo>
                <a:cubicBezTo>
                  <a:pt x="30799" y="0"/>
                  <a:pt x="0" y="30799"/>
                  <a:pt x="0" y="68736"/>
                </a:cubicBezTo>
                <a:cubicBezTo>
                  <a:pt x="0" y="106672"/>
                  <a:pt x="30799" y="137471"/>
                  <a:pt x="68736" y="137471"/>
                </a:cubicBezTo>
                <a:close/>
                <a:moveTo>
                  <a:pt x="91397" y="57110"/>
                </a:moveTo>
                <a:lnTo>
                  <a:pt x="69917" y="91478"/>
                </a:lnTo>
                <a:cubicBezTo>
                  <a:pt x="68789" y="93277"/>
                  <a:pt x="66856" y="94404"/>
                  <a:pt x="64735" y="94512"/>
                </a:cubicBezTo>
                <a:cubicBezTo>
                  <a:pt x="62614" y="94619"/>
                  <a:pt x="60573" y="93652"/>
                  <a:pt x="59311" y="91934"/>
                </a:cubicBezTo>
                <a:lnTo>
                  <a:pt x="46423" y="74750"/>
                </a:lnTo>
                <a:cubicBezTo>
                  <a:pt x="44275" y="71904"/>
                  <a:pt x="44866" y="67877"/>
                  <a:pt x="47712" y="65729"/>
                </a:cubicBezTo>
                <a:cubicBezTo>
                  <a:pt x="50558" y="63581"/>
                  <a:pt x="54586" y="64171"/>
                  <a:pt x="56734" y="67017"/>
                </a:cubicBezTo>
                <a:lnTo>
                  <a:pt x="63983" y="76683"/>
                </a:lnTo>
                <a:lnTo>
                  <a:pt x="80469" y="50290"/>
                </a:lnTo>
                <a:cubicBezTo>
                  <a:pt x="82349" y="47283"/>
                  <a:pt x="86322" y="46343"/>
                  <a:pt x="89356" y="48249"/>
                </a:cubicBezTo>
                <a:cubicBezTo>
                  <a:pt x="92390" y="50156"/>
                  <a:pt x="93303" y="54103"/>
                  <a:pt x="91397" y="57137"/>
                </a:cubicBezTo>
                <a:close/>
              </a:path>
            </a:pathLst>
          </a:custGeom>
          <a:solidFill>
            <a:srgbClr val="05DF72"/>
          </a:solidFill>
        </p:spPr>
      </p:sp>
      <p:sp>
        <p:nvSpPr>
          <p:cNvPr id="41" name="Text 38"/>
          <p:cNvSpPr/>
          <p:nvPr/>
        </p:nvSpPr>
        <p:spPr>
          <a:xfrm>
            <a:off x="8604317" y="4562334"/>
            <a:ext cx="2105032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Proxmox environment operational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346558" y="4871645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68736" y="137471"/>
                </a:moveTo>
                <a:cubicBezTo>
                  <a:pt x="106672" y="137471"/>
                  <a:pt x="137471" y="106672"/>
                  <a:pt x="137471" y="68736"/>
                </a:cubicBezTo>
                <a:cubicBezTo>
                  <a:pt x="137471" y="30799"/>
                  <a:pt x="106672" y="0"/>
                  <a:pt x="68736" y="0"/>
                </a:cubicBezTo>
                <a:cubicBezTo>
                  <a:pt x="30799" y="0"/>
                  <a:pt x="0" y="30799"/>
                  <a:pt x="0" y="68736"/>
                </a:cubicBezTo>
                <a:cubicBezTo>
                  <a:pt x="0" y="106672"/>
                  <a:pt x="30799" y="137471"/>
                  <a:pt x="68736" y="137471"/>
                </a:cubicBezTo>
                <a:close/>
                <a:moveTo>
                  <a:pt x="91397" y="57110"/>
                </a:moveTo>
                <a:lnTo>
                  <a:pt x="69917" y="91478"/>
                </a:lnTo>
                <a:cubicBezTo>
                  <a:pt x="68789" y="93277"/>
                  <a:pt x="66856" y="94404"/>
                  <a:pt x="64735" y="94512"/>
                </a:cubicBezTo>
                <a:cubicBezTo>
                  <a:pt x="62614" y="94619"/>
                  <a:pt x="60573" y="93652"/>
                  <a:pt x="59311" y="91934"/>
                </a:cubicBezTo>
                <a:lnTo>
                  <a:pt x="46423" y="74750"/>
                </a:lnTo>
                <a:cubicBezTo>
                  <a:pt x="44275" y="71904"/>
                  <a:pt x="44866" y="67877"/>
                  <a:pt x="47712" y="65729"/>
                </a:cubicBezTo>
                <a:cubicBezTo>
                  <a:pt x="50558" y="63581"/>
                  <a:pt x="54586" y="64171"/>
                  <a:pt x="56734" y="67017"/>
                </a:cubicBezTo>
                <a:lnTo>
                  <a:pt x="63983" y="76683"/>
                </a:lnTo>
                <a:lnTo>
                  <a:pt x="80469" y="50290"/>
                </a:lnTo>
                <a:cubicBezTo>
                  <a:pt x="82349" y="47283"/>
                  <a:pt x="86322" y="46343"/>
                  <a:pt x="89356" y="48249"/>
                </a:cubicBezTo>
                <a:cubicBezTo>
                  <a:pt x="92390" y="50156"/>
                  <a:pt x="93303" y="54103"/>
                  <a:pt x="91397" y="57137"/>
                </a:cubicBezTo>
                <a:close/>
              </a:path>
            </a:pathLst>
          </a:custGeom>
          <a:solidFill>
            <a:srgbClr val="05DF72"/>
          </a:solidFill>
        </p:spPr>
      </p:sp>
      <p:sp>
        <p:nvSpPr>
          <p:cNvPr id="43" name="Text 40"/>
          <p:cNvSpPr/>
          <p:nvPr/>
        </p:nvSpPr>
        <p:spPr>
          <a:xfrm>
            <a:off x="8604317" y="4837277"/>
            <a:ext cx="1993336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 VMs deployed and configured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8346558" y="5146588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68736" y="137471"/>
                </a:moveTo>
                <a:cubicBezTo>
                  <a:pt x="106672" y="137471"/>
                  <a:pt x="137471" y="106672"/>
                  <a:pt x="137471" y="68736"/>
                </a:cubicBezTo>
                <a:cubicBezTo>
                  <a:pt x="137471" y="30799"/>
                  <a:pt x="106672" y="0"/>
                  <a:pt x="68736" y="0"/>
                </a:cubicBezTo>
                <a:cubicBezTo>
                  <a:pt x="30799" y="0"/>
                  <a:pt x="0" y="30799"/>
                  <a:pt x="0" y="68736"/>
                </a:cubicBezTo>
                <a:cubicBezTo>
                  <a:pt x="0" y="106672"/>
                  <a:pt x="30799" y="137471"/>
                  <a:pt x="68736" y="137471"/>
                </a:cubicBezTo>
                <a:close/>
                <a:moveTo>
                  <a:pt x="91397" y="57110"/>
                </a:moveTo>
                <a:lnTo>
                  <a:pt x="69917" y="91478"/>
                </a:lnTo>
                <a:cubicBezTo>
                  <a:pt x="68789" y="93277"/>
                  <a:pt x="66856" y="94404"/>
                  <a:pt x="64735" y="94512"/>
                </a:cubicBezTo>
                <a:cubicBezTo>
                  <a:pt x="62614" y="94619"/>
                  <a:pt x="60573" y="93652"/>
                  <a:pt x="59311" y="91934"/>
                </a:cubicBezTo>
                <a:lnTo>
                  <a:pt x="46423" y="74750"/>
                </a:lnTo>
                <a:cubicBezTo>
                  <a:pt x="44275" y="71904"/>
                  <a:pt x="44866" y="67877"/>
                  <a:pt x="47712" y="65729"/>
                </a:cubicBezTo>
                <a:cubicBezTo>
                  <a:pt x="50558" y="63581"/>
                  <a:pt x="54586" y="64171"/>
                  <a:pt x="56734" y="67017"/>
                </a:cubicBezTo>
                <a:lnTo>
                  <a:pt x="63983" y="76683"/>
                </a:lnTo>
                <a:lnTo>
                  <a:pt x="80469" y="50290"/>
                </a:lnTo>
                <a:cubicBezTo>
                  <a:pt x="82349" y="47283"/>
                  <a:pt x="86322" y="46343"/>
                  <a:pt x="89356" y="48249"/>
                </a:cubicBezTo>
                <a:cubicBezTo>
                  <a:pt x="92390" y="50156"/>
                  <a:pt x="93303" y="54103"/>
                  <a:pt x="91397" y="57137"/>
                </a:cubicBezTo>
                <a:close/>
              </a:path>
            </a:pathLst>
          </a:custGeom>
          <a:solidFill>
            <a:srgbClr val="05DF72"/>
          </a:solidFill>
        </p:spPr>
      </p:sp>
      <p:sp>
        <p:nvSpPr>
          <p:cNvPr id="45" name="Text 42"/>
          <p:cNvSpPr/>
          <p:nvPr/>
        </p:nvSpPr>
        <p:spPr>
          <a:xfrm>
            <a:off x="8604317" y="5112220"/>
            <a:ext cx="2173767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Network segmentation established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153239" y="5640626"/>
            <a:ext cx="3685953" cy="661581"/>
          </a:xfrm>
          <a:prstGeom prst="roundRect">
            <a:avLst>
              <a:gd name="adj" fmla="val 10390"/>
            </a:avLst>
          </a:prstGeom>
          <a:solidFill>
            <a:srgbClr val="00C950">
              <a:alpha val="10196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316486" y="5885497"/>
            <a:ext cx="171839" cy="171839"/>
          </a:xfrm>
          <a:custGeom>
            <a:avLst/>
            <a:gdLst/>
            <a:ahLst/>
            <a:cxnLst/>
            <a:rect l="l" t="t" r="r" b="b"/>
            <a:pathLst>
              <a:path w="171839" h="171839">
                <a:moveTo>
                  <a:pt x="85920" y="171839"/>
                </a:moveTo>
                <a:cubicBezTo>
                  <a:pt x="133340" y="171839"/>
                  <a:pt x="171839" y="133340"/>
                  <a:pt x="171839" y="85920"/>
                </a:cubicBezTo>
                <a:cubicBezTo>
                  <a:pt x="171839" y="38499"/>
                  <a:pt x="133340" y="0"/>
                  <a:pt x="85920" y="0"/>
                </a:cubicBezTo>
                <a:cubicBezTo>
                  <a:pt x="38499" y="0"/>
                  <a:pt x="0" y="38499"/>
                  <a:pt x="0" y="85920"/>
                </a:cubicBezTo>
                <a:cubicBezTo>
                  <a:pt x="0" y="133340"/>
                  <a:pt x="38499" y="171839"/>
                  <a:pt x="85920" y="171839"/>
                </a:cubicBezTo>
                <a:close/>
                <a:moveTo>
                  <a:pt x="114246" y="71387"/>
                </a:moveTo>
                <a:lnTo>
                  <a:pt x="87396" y="114347"/>
                </a:lnTo>
                <a:cubicBezTo>
                  <a:pt x="85987" y="116596"/>
                  <a:pt x="83570" y="118005"/>
                  <a:pt x="80919" y="118140"/>
                </a:cubicBezTo>
                <a:cubicBezTo>
                  <a:pt x="78267" y="118274"/>
                  <a:pt x="75717" y="117066"/>
                  <a:pt x="74139" y="114918"/>
                </a:cubicBezTo>
                <a:lnTo>
                  <a:pt x="58029" y="93438"/>
                </a:lnTo>
                <a:cubicBezTo>
                  <a:pt x="55344" y="89880"/>
                  <a:pt x="56083" y="84846"/>
                  <a:pt x="59640" y="82161"/>
                </a:cubicBezTo>
                <a:cubicBezTo>
                  <a:pt x="63198" y="79476"/>
                  <a:pt x="68232" y="80214"/>
                  <a:pt x="70917" y="83772"/>
                </a:cubicBezTo>
                <a:lnTo>
                  <a:pt x="79979" y="95854"/>
                </a:lnTo>
                <a:lnTo>
                  <a:pt x="100586" y="62862"/>
                </a:lnTo>
                <a:cubicBezTo>
                  <a:pt x="102936" y="59103"/>
                  <a:pt x="107903" y="57929"/>
                  <a:pt x="111696" y="60312"/>
                </a:cubicBezTo>
                <a:cubicBezTo>
                  <a:pt x="115488" y="62695"/>
                  <a:pt x="116629" y="67628"/>
                  <a:pt x="114246" y="71421"/>
                </a:cubicBezTo>
                <a:close/>
              </a:path>
            </a:pathLst>
          </a:custGeom>
          <a:solidFill>
            <a:srgbClr val="05DF72"/>
          </a:solidFill>
        </p:spPr>
      </p:sp>
      <p:sp>
        <p:nvSpPr>
          <p:cNvPr id="48" name="Text 45"/>
          <p:cNvSpPr/>
          <p:nvPr/>
        </p:nvSpPr>
        <p:spPr>
          <a:xfrm>
            <a:off x="8612909" y="5782393"/>
            <a:ext cx="1520778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On Schedule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8612909" y="5988600"/>
            <a:ext cx="1512186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All deliverables met on time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COMPLETED MILESTONE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Milestone 3: Proxmox Environment Setup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31750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5" name="Shape 3"/>
          <p:cNvSpPr/>
          <p:nvPr/>
        </p:nvSpPr>
        <p:spPr>
          <a:xfrm>
            <a:off x="321469" y="1178719"/>
            <a:ext cx="5675313" cy="3040063"/>
          </a:xfrm>
          <a:prstGeom prst="roundRect">
            <a:avLst>
              <a:gd name="adj" fmla="val 2089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187" y="1341438"/>
            <a:ext cx="15716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Deployment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81029" y="1341438"/>
            <a:ext cx="849313" cy="222250"/>
          </a:xfrm>
          <a:prstGeom prst="roundRect">
            <a:avLst>
              <a:gd name="adj" fmla="val 50000"/>
            </a:avLst>
          </a:prstGeom>
          <a:solidFill>
            <a:srgbClr val="00C950">
              <a:alpha val="20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4981029" y="1341438"/>
            <a:ext cx="904875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187" y="1690688"/>
            <a:ext cx="2611438" cy="968375"/>
          </a:xfrm>
          <a:prstGeom prst="roundRect">
            <a:avLst>
              <a:gd name="adj" fmla="val 6557"/>
            </a:avLst>
          </a:prstGeom>
          <a:solidFill>
            <a:srgbClr val="191919"/>
          </a:solidFill>
        </p:spPr>
      </p:sp>
      <p:sp>
        <p:nvSpPr>
          <p:cNvPr id="10" name="Shape 8"/>
          <p:cNvSpPr/>
          <p:nvPr/>
        </p:nvSpPr>
        <p:spPr>
          <a:xfrm>
            <a:off x="1687711" y="1817688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29766" y="14883"/>
                </a:moveTo>
                <a:cubicBezTo>
                  <a:pt x="13348" y="14883"/>
                  <a:pt x="0" y="28231"/>
                  <a:pt x="0" y="44648"/>
                </a:cubicBezTo>
                <a:lnTo>
                  <a:pt x="0" y="74414"/>
                </a:lnTo>
                <a:cubicBezTo>
                  <a:pt x="0" y="90832"/>
                  <a:pt x="13348" y="104180"/>
                  <a:pt x="29766" y="104180"/>
                </a:cubicBezTo>
                <a:lnTo>
                  <a:pt x="178594" y="104180"/>
                </a:lnTo>
                <a:cubicBezTo>
                  <a:pt x="195011" y="104180"/>
                  <a:pt x="208359" y="90832"/>
                  <a:pt x="208359" y="74414"/>
                </a:cubicBezTo>
                <a:lnTo>
                  <a:pt x="208359" y="44648"/>
                </a:lnTo>
                <a:cubicBezTo>
                  <a:pt x="208359" y="28231"/>
                  <a:pt x="195011" y="14883"/>
                  <a:pt x="178594" y="14883"/>
                </a:cubicBezTo>
                <a:lnTo>
                  <a:pt x="29766" y="14883"/>
                </a:lnTo>
                <a:close/>
                <a:moveTo>
                  <a:pt x="130225" y="48369"/>
                </a:moveTo>
                <a:cubicBezTo>
                  <a:pt x="136385" y="48369"/>
                  <a:pt x="141387" y="53371"/>
                  <a:pt x="141387" y="59531"/>
                </a:cubicBezTo>
                <a:cubicBezTo>
                  <a:pt x="141387" y="65692"/>
                  <a:pt x="136385" y="70693"/>
                  <a:pt x="130225" y="70693"/>
                </a:cubicBezTo>
                <a:cubicBezTo>
                  <a:pt x="124064" y="70693"/>
                  <a:pt x="119062" y="65692"/>
                  <a:pt x="119062" y="59531"/>
                </a:cubicBezTo>
                <a:cubicBezTo>
                  <a:pt x="119062" y="53371"/>
                  <a:pt x="124064" y="48369"/>
                  <a:pt x="130225" y="48369"/>
                </a:cubicBezTo>
                <a:close/>
                <a:moveTo>
                  <a:pt x="156270" y="59531"/>
                </a:moveTo>
                <a:cubicBezTo>
                  <a:pt x="156270" y="53371"/>
                  <a:pt x="161271" y="48369"/>
                  <a:pt x="167432" y="48369"/>
                </a:cubicBezTo>
                <a:cubicBezTo>
                  <a:pt x="173592" y="48369"/>
                  <a:pt x="178594" y="53371"/>
                  <a:pt x="178594" y="59531"/>
                </a:cubicBezTo>
                <a:cubicBezTo>
                  <a:pt x="178594" y="65692"/>
                  <a:pt x="173592" y="70693"/>
                  <a:pt x="167432" y="70693"/>
                </a:cubicBezTo>
                <a:cubicBezTo>
                  <a:pt x="161271" y="70693"/>
                  <a:pt x="156270" y="65692"/>
                  <a:pt x="156270" y="59531"/>
                </a:cubicBezTo>
                <a:close/>
                <a:moveTo>
                  <a:pt x="29766" y="133945"/>
                </a:moveTo>
                <a:cubicBezTo>
                  <a:pt x="13348" y="133945"/>
                  <a:pt x="0" y="147293"/>
                  <a:pt x="0" y="163711"/>
                </a:cubicBezTo>
                <a:lnTo>
                  <a:pt x="0" y="193477"/>
                </a:lnTo>
                <a:cubicBezTo>
                  <a:pt x="0" y="209894"/>
                  <a:pt x="13348" y="223242"/>
                  <a:pt x="29766" y="223242"/>
                </a:cubicBezTo>
                <a:lnTo>
                  <a:pt x="178594" y="223242"/>
                </a:lnTo>
                <a:cubicBezTo>
                  <a:pt x="195011" y="223242"/>
                  <a:pt x="208359" y="209894"/>
                  <a:pt x="208359" y="193477"/>
                </a:cubicBezTo>
                <a:lnTo>
                  <a:pt x="208359" y="163711"/>
                </a:lnTo>
                <a:cubicBezTo>
                  <a:pt x="208359" y="147293"/>
                  <a:pt x="195011" y="133945"/>
                  <a:pt x="178594" y="133945"/>
                </a:cubicBezTo>
                <a:lnTo>
                  <a:pt x="29766" y="133945"/>
                </a:lnTo>
                <a:close/>
                <a:moveTo>
                  <a:pt x="130225" y="167432"/>
                </a:moveTo>
                <a:cubicBezTo>
                  <a:pt x="136385" y="167432"/>
                  <a:pt x="141387" y="172433"/>
                  <a:pt x="141387" y="178594"/>
                </a:cubicBezTo>
                <a:cubicBezTo>
                  <a:pt x="141387" y="184754"/>
                  <a:pt x="136385" y="189756"/>
                  <a:pt x="130225" y="189756"/>
                </a:cubicBezTo>
                <a:cubicBezTo>
                  <a:pt x="124064" y="189756"/>
                  <a:pt x="119062" y="184754"/>
                  <a:pt x="119062" y="178594"/>
                </a:cubicBezTo>
                <a:cubicBezTo>
                  <a:pt x="119062" y="172433"/>
                  <a:pt x="124064" y="167432"/>
                  <a:pt x="130225" y="167432"/>
                </a:cubicBezTo>
                <a:close/>
                <a:moveTo>
                  <a:pt x="156270" y="178594"/>
                </a:moveTo>
                <a:cubicBezTo>
                  <a:pt x="156270" y="172433"/>
                  <a:pt x="161271" y="167432"/>
                  <a:pt x="167432" y="167432"/>
                </a:cubicBezTo>
                <a:cubicBezTo>
                  <a:pt x="173592" y="167432"/>
                  <a:pt x="178594" y="172433"/>
                  <a:pt x="178594" y="178594"/>
                </a:cubicBezTo>
                <a:cubicBezTo>
                  <a:pt x="178594" y="184754"/>
                  <a:pt x="173592" y="189756"/>
                  <a:pt x="167432" y="189756"/>
                </a:cubicBezTo>
                <a:cubicBezTo>
                  <a:pt x="161271" y="189756"/>
                  <a:pt x="156270" y="184754"/>
                  <a:pt x="156270" y="178594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11" name="Text 9"/>
          <p:cNvSpPr/>
          <p:nvPr/>
        </p:nvSpPr>
        <p:spPr>
          <a:xfrm>
            <a:off x="563563" y="2119313"/>
            <a:ext cx="24526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32 GB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3406" y="2373313"/>
            <a:ext cx="2413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Total RAM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22625" y="1690688"/>
            <a:ext cx="2611438" cy="968375"/>
          </a:xfrm>
          <a:prstGeom prst="roundRect">
            <a:avLst>
              <a:gd name="adj" fmla="val 6557"/>
            </a:avLst>
          </a:prstGeom>
          <a:solidFill>
            <a:srgbClr val="191919"/>
          </a:solidFill>
        </p:spPr>
      </p:sp>
      <p:sp>
        <p:nvSpPr>
          <p:cNvPr id="14" name="Shape 12"/>
          <p:cNvSpPr/>
          <p:nvPr/>
        </p:nvSpPr>
        <p:spPr>
          <a:xfrm>
            <a:off x="4426148" y="1817688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29766" y="14883"/>
                </a:moveTo>
                <a:cubicBezTo>
                  <a:pt x="13348" y="14883"/>
                  <a:pt x="0" y="28231"/>
                  <a:pt x="0" y="44648"/>
                </a:cubicBezTo>
                <a:lnTo>
                  <a:pt x="0" y="120969"/>
                </a:lnTo>
                <a:cubicBezTo>
                  <a:pt x="8418" y="115063"/>
                  <a:pt x="18697" y="111621"/>
                  <a:pt x="29766" y="111621"/>
                </a:cubicBezTo>
                <a:lnTo>
                  <a:pt x="178594" y="111621"/>
                </a:lnTo>
                <a:cubicBezTo>
                  <a:pt x="189663" y="111621"/>
                  <a:pt x="199941" y="115063"/>
                  <a:pt x="208359" y="120969"/>
                </a:cubicBezTo>
                <a:lnTo>
                  <a:pt x="208359" y="44648"/>
                </a:lnTo>
                <a:cubicBezTo>
                  <a:pt x="208359" y="28231"/>
                  <a:pt x="195011" y="14883"/>
                  <a:pt x="178594" y="14883"/>
                </a:cubicBezTo>
                <a:lnTo>
                  <a:pt x="29766" y="14883"/>
                </a:lnTo>
                <a:close/>
                <a:moveTo>
                  <a:pt x="208359" y="163711"/>
                </a:moveTo>
                <a:cubicBezTo>
                  <a:pt x="208359" y="147293"/>
                  <a:pt x="195011" y="133945"/>
                  <a:pt x="178594" y="133945"/>
                </a:cubicBezTo>
                <a:lnTo>
                  <a:pt x="29766" y="133945"/>
                </a:lnTo>
                <a:cubicBezTo>
                  <a:pt x="13348" y="133945"/>
                  <a:pt x="0" y="147293"/>
                  <a:pt x="0" y="163711"/>
                </a:cubicBezTo>
                <a:lnTo>
                  <a:pt x="0" y="193477"/>
                </a:lnTo>
                <a:cubicBezTo>
                  <a:pt x="0" y="209894"/>
                  <a:pt x="13348" y="223242"/>
                  <a:pt x="29766" y="223242"/>
                </a:cubicBezTo>
                <a:lnTo>
                  <a:pt x="178594" y="223242"/>
                </a:lnTo>
                <a:cubicBezTo>
                  <a:pt x="195011" y="223242"/>
                  <a:pt x="208359" y="209894"/>
                  <a:pt x="208359" y="193477"/>
                </a:cubicBezTo>
                <a:lnTo>
                  <a:pt x="208359" y="163711"/>
                </a:lnTo>
                <a:close/>
                <a:moveTo>
                  <a:pt x="104180" y="178594"/>
                </a:moveTo>
                <a:cubicBezTo>
                  <a:pt x="104180" y="170380"/>
                  <a:pt x="110848" y="163711"/>
                  <a:pt x="119062" y="163711"/>
                </a:cubicBezTo>
                <a:cubicBezTo>
                  <a:pt x="127277" y="163711"/>
                  <a:pt x="133945" y="170380"/>
                  <a:pt x="133945" y="178594"/>
                </a:cubicBezTo>
                <a:cubicBezTo>
                  <a:pt x="133945" y="186808"/>
                  <a:pt x="127277" y="193477"/>
                  <a:pt x="119062" y="193477"/>
                </a:cubicBezTo>
                <a:cubicBezTo>
                  <a:pt x="110848" y="193477"/>
                  <a:pt x="104180" y="186808"/>
                  <a:pt x="104180" y="178594"/>
                </a:cubicBezTo>
                <a:close/>
                <a:moveTo>
                  <a:pt x="163711" y="163711"/>
                </a:moveTo>
                <a:cubicBezTo>
                  <a:pt x="171925" y="163711"/>
                  <a:pt x="178594" y="170380"/>
                  <a:pt x="178594" y="178594"/>
                </a:cubicBezTo>
                <a:cubicBezTo>
                  <a:pt x="178594" y="186808"/>
                  <a:pt x="171925" y="193477"/>
                  <a:pt x="163711" y="193477"/>
                </a:cubicBezTo>
                <a:cubicBezTo>
                  <a:pt x="155497" y="193477"/>
                  <a:pt x="148828" y="186808"/>
                  <a:pt x="148828" y="178594"/>
                </a:cubicBezTo>
                <a:cubicBezTo>
                  <a:pt x="148828" y="170380"/>
                  <a:pt x="155497" y="163711"/>
                  <a:pt x="163711" y="163711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15" name="Text 13"/>
          <p:cNvSpPr/>
          <p:nvPr/>
        </p:nvSpPr>
        <p:spPr>
          <a:xfrm>
            <a:off x="3302000" y="2119313"/>
            <a:ext cx="24526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SSD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21844" y="2373313"/>
            <a:ext cx="2413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Storage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187" y="2786063"/>
            <a:ext cx="5349875" cy="381000"/>
          </a:xfrm>
          <a:prstGeom prst="roundRect">
            <a:avLst>
              <a:gd name="adj" fmla="val 16667"/>
            </a:avLst>
          </a:prstGeom>
          <a:solidFill>
            <a:srgbClr val="191919"/>
          </a:solidFill>
        </p:spPr>
      </p:sp>
      <p:sp>
        <p:nvSpPr>
          <p:cNvPr id="18" name="Text 16"/>
          <p:cNvSpPr/>
          <p:nvPr/>
        </p:nvSpPr>
        <p:spPr>
          <a:xfrm>
            <a:off x="579438" y="2881313"/>
            <a:ext cx="547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Platform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57180" y="2881313"/>
            <a:ext cx="746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Proxmox VE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187" y="3230563"/>
            <a:ext cx="5349875" cy="381000"/>
          </a:xfrm>
          <a:prstGeom prst="roundRect">
            <a:avLst>
              <a:gd name="adj" fmla="val 16667"/>
            </a:avLst>
          </a:prstGeom>
          <a:solidFill>
            <a:srgbClr val="191919"/>
          </a:solidFill>
        </p:spPr>
      </p:sp>
      <p:sp>
        <p:nvSpPr>
          <p:cNvPr id="21" name="Text 19"/>
          <p:cNvSpPr/>
          <p:nvPr/>
        </p:nvSpPr>
        <p:spPr>
          <a:xfrm>
            <a:off x="579438" y="3325813"/>
            <a:ext cx="1127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Deployment Model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8056" y="3325813"/>
            <a:ext cx="1135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Isolated Virtual Lab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4187" y="3675063"/>
            <a:ext cx="5349875" cy="381000"/>
          </a:xfrm>
          <a:prstGeom prst="roundRect">
            <a:avLst>
              <a:gd name="adj" fmla="val 16667"/>
            </a:avLst>
          </a:prstGeom>
          <a:solidFill>
            <a:srgbClr val="191919"/>
          </a:solidFill>
        </p:spPr>
      </p:sp>
      <p:sp>
        <p:nvSpPr>
          <p:cNvPr id="24" name="Text 22"/>
          <p:cNvSpPr/>
          <p:nvPr/>
        </p:nvSpPr>
        <p:spPr>
          <a:xfrm>
            <a:off x="579438" y="3770313"/>
            <a:ext cx="1063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Reset Mechanism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21212" y="3770313"/>
            <a:ext cx="1277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Snapshots &amp; Rollback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1469" y="4353719"/>
            <a:ext cx="5675313" cy="2547938"/>
          </a:xfrm>
          <a:prstGeom prst="roundRect">
            <a:avLst>
              <a:gd name="adj" fmla="val 2492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187" y="4516438"/>
            <a:ext cx="5421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Network Segmentation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0063" y="4833938"/>
            <a:ext cx="5334000" cy="571500"/>
          </a:xfrm>
          <a:custGeom>
            <a:avLst/>
            <a:gdLst/>
            <a:ahLst/>
            <a:cxnLst/>
            <a:rect l="l" t="t" r="r" b="b"/>
            <a:pathLst>
              <a:path w="5334000" h="571500">
                <a:moveTo>
                  <a:pt x="0" y="0"/>
                </a:moveTo>
                <a:lnTo>
                  <a:pt x="5270500" y="0"/>
                </a:lnTo>
                <a:cubicBezTo>
                  <a:pt x="5305547" y="0"/>
                  <a:pt x="5334000" y="28453"/>
                  <a:pt x="5334000" y="63500"/>
                </a:cubicBezTo>
                <a:lnTo>
                  <a:pt x="5334000" y="508000"/>
                </a:lnTo>
                <a:cubicBezTo>
                  <a:pt x="5334000" y="543047"/>
                  <a:pt x="5305547" y="571500"/>
                  <a:pt x="5270500" y="571500"/>
                </a:cubicBez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91919"/>
          </a:solidFill>
        </p:spPr>
      </p:sp>
      <p:sp>
        <p:nvSpPr>
          <p:cNvPr id="29" name="Shape 27"/>
          <p:cNvSpPr/>
          <p:nvPr/>
        </p:nvSpPr>
        <p:spPr>
          <a:xfrm>
            <a:off x="500063" y="4833938"/>
            <a:ext cx="31750" cy="571500"/>
          </a:xfrm>
          <a:prstGeom prst="roundRect">
            <a:avLst>
              <a:gd name="adj" fmla="val 0"/>
            </a:avLst>
          </a:prstGeom>
          <a:solidFill>
            <a:srgbClr val="FB2C36"/>
          </a:solidFill>
        </p:spPr>
      </p:sp>
      <p:sp>
        <p:nvSpPr>
          <p:cNvPr id="30" name="Text 28"/>
          <p:cNvSpPr/>
          <p:nvPr/>
        </p:nvSpPr>
        <p:spPr>
          <a:xfrm>
            <a:off x="611188" y="4929188"/>
            <a:ext cx="595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NET-EXT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03523" y="4929188"/>
            <a:ext cx="468313" cy="190500"/>
          </a:xfrm>
          <a:prstGeom prst="roundRect">
            <a:avLst>
              <a:gd name="adj" fmla="val 16667"/>
            </a:avLst>
          </a:prstGeom>
          <a:solidFill>
            <a:srgbClr val="FB2C36">
              <a:alpha val="2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1203523" y="4929188"/>
            <a:ext cx="515938" cy="19050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External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1188" y="5151438"/>
            <a:ext cx="17621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Attacker-facing services (TPOT01)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0063" y="5500688"/>
            <a:ext cx="5334000" cy="571500"/>
          </a:xfrm>
          <a:custGeom>
            <a:avLst/>
            <a:gdLst/>
            <a:ahLst/>
            <a:cxnLst/>
            <a:rect l="l" t="t" r="r" b="b"/>
            <a:pathLst>
              <a:path w="5334000" h="571500">
                <a:moveTo>
                  <a:pt x="0" y="0"/>
                </a:moveTo>
                <a:lnTo>
                  <a:pt x="5270500" y="0"/>
                </a:lnTo>
                <a:cubicBezTo>
                  <a:pt x="5305547" y="0"/>
                  <a:pt x="5334000" y="28453"/>
                  <a:pt x="5334000" y="63500"/>
                </a:cubicBezTo>
                <a:lnTo>
                  <a:pt x="5334000" y="508000"/>
                </a:lnTo>
                <a:cubicBezTo>
                  <a:pt x="5334000" y="543047"/>
                  <a:pt x="5305547" y="571500"/>
                  <a:pt x="5270500" y="571500"/>
                </a:cubicBez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91919"/>
          </a:solidFill>
        </p:spPr>
      </p:sp>
      <p:sp>
        <p:nvSpPr>
          <p:cNvPr id="35" name="Shape 33"/>
          <p:cNvSpPr/>
          <p:nvPr/>
        </p:nvSpPr>
        <p:spPr>
          <a:xfrm>
            <a:off x="500063" y="5500688"/>
            <a:ext cx="31750" cy="571500"/>
          </a:xfrm>
          <a:prstGeom prst="roundRect">
            <a:avLst>
              <a:gd name="adj" fmla="val 0"/>
            </a:avLst>
          </a:prstGeom>
          <a:solidFill>
            <a:srgbClr val="F0B100"/>
          </a:solidFill>
        </p:spPr>
      </p:sp>
      <p:sp>
        <p:nvSpPr>
          <p:cNvPr id="36" name="Text 34"/>
          <p:cNvSpPr/>
          <p:nvPr/>
        </p:nvSpPr>
        <p:spPr>
          <a:xfrm>
            <a:off x="611188" y="5595938"/>
            <a:ext cx="563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NET-INT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72208" y="5595938"/>
            <a:ext cx="444500" cy="190500"/>
          </a:xfrm>
          <a:prstGeom prst="roundRect">
            <a:avLst>
              <a:gd name="adj" fmla="val 16667"/>
            </a:avLst>
          </a:prstGeom>
          <a:solidFill>
            <a:srgbClr val="F0B100">
              <a:alpha val="20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1172208" y="5595938"/>
            <a:ext cx="492125" cy="19050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Internal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11188" y="5818188"/>
            <a:ext cx="1992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Enterprise network (DC01, WS01, FS01)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0063" y="6167438"/>
            <a:ext cx="5334000" cy="571500"/>
          </a:xfrm>
          <a:custGeom>
            <a:avLst/>
            <a:gdLst/>
            <a:ahLst/>
            <a:cxnLst/>
            <a:rect l="l" t="t" r="r" b="b"/>
            <a:pathLst>
              <a:path w="5334000" h="571500">
                <a:moveTo>
                  <a:pt x="0" y="0"/>
                </a:moveTo>
                <a:lnTo>
                  <a:pt x="5270500" y="0"/>
                </a:lnTo>
                <a:cubicBezTo>
                  <a:pt x="5305547" y="0"/>
                  <a:pt x="5334000" y="28453"/>
                  <a:pt x="5334000" y="63500"/>
                </a:cubicBezTo>
                <a:lnTo>
                  <a:pt x="5334000" y="508000"/>
                </a:lnTo>
                <a:cubicBezTo>
                  <a:pt x="5334000" y="543047"/>
                  <a:pt x="5305547" y="571500"/>
                  <a:pt x="5270500" y="571500"/>
                </a:cubicBez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91919"/>
          </a:solidFill>
        </p:spPr>
      </p:sp>
      <p:sp>
        <p:nvSpPr>
          <p:cNvPr id="41" name="Shape 39"/>
          <p:cNvSpPr/>
          <p:nvPr/>
        </p:nvSpPr>
        <p:spPr>
          <a:xfrm>
            <a:off x="500063" y="6167438"/>
            <a:ext cx="31750" cy="571500"/>
          </a:xfrm>
          <a:prstGeom prst="roundRect">
            <a:avLst>
              <a:gd name="adj" fmla="val 0"/>
            </a:avLst>
          </a:prstGeom>
          <a:solidFill>
            <a:srgbClr val="00C950"/>
          </a:solidFill>
        </p:spPr>
      </p:sp>
      <p:sp>
        <p:nvSpPr>
          <p:cNvPr id="42" name="Text 40"/>
          <p:cNvSpPr/>
          <p:nvPr/>
        </p:nvSpPr>
        <p:spPr>
          <a:xfrm>
            <a:off x="611188" y="6262688"/>
            <a:ext cx="754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NET-MGMT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361529" y="6262688"/>
            <a:ext cx="682625" cy="190500"/>
          </a:xfrm>
          <a:prstGeom prst="roundRect">
            <a:avLst>
              <a:gd name="adj" fmla="val 16667"/>
            </a:avLst>
          </a:prstGeom>
          <a:solidFill>
            <a:srgbClr val="00C950">
              <a:alpha val="2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1361529" y="6262688"/>
            <a:ext cx="730250" cy="19050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11188" y="6484938"/>
            <a:ext cx="1492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Admin &amp; logging (LOG01)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5219" y="1178719"/>
            <a:ext cx="5675313" cy="1770063"/>
          </a:xfrm>
          <a:prstGeom prst="roundRect">
            <a:avLst>
              <a:gd name="adj" fmla="val 3587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7938" y="1341438"/>
            <a:ext cx="5421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Milestone Details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57938" y="1690688"/>
            <a:ext cx="539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Timeline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282722" y="1690688"/>
            <a:ext cx="49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 4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57938" y="1912938"/>
            <a:ext cx="5349875" cy="63500"/>
          </a:xfrm>
          <a:prstGeom prst="roundRect">
            <a:avLst>
              <a:gd name="adj" fmla="val 50000"/>
            </a:avLst>
          </a:prstGeom>
          <a:solidFill>
            <a:srgbClr val="333333"/>
          </a:solidFill>
        </p:spPr>
      </p:sp>
      <p:sp>
        <p:nvSpPr>
          <p:cNvPr id="51" name="Shape 49"/>
          <p:cNvSpPr/>
          <p:nvPr/>
        </p:nvSpPr>
        <p:spPr>
          <a:xfrm>
            <a:off x="6357938" y="1912938"/>
            <a:ext cx="5349875" cy="635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</p:spPr>
      </p:sp>
      <p:sp>
        <p:nvSpPr>
          <p:cNvPr id="52" name="Shape 50"/>
          <p:cNvSpPr/>
          <p:nvPr/>
        </p:nvSpPr>
        <p:spPr>
          <a:xfrm>
            <a:off x="6357938" y="2075656"/>
            <a:ext cx="5349875" cy="7938"/>
          </a:xfrm>
          <a:prstGeom prst="roundRect">
            <a:avLst>
              <a:gd name="adj" fmla="val 0"/>
            </a:avLst>
          </a:prstGeom>
          <a:solidFill>
            <a:srgbClr val="333333"/>
          </a:solidFill>
        </p:spPr>
      </p:sp>
      <p:sp>
        <p:nvSpPr>
          <p:cNvPr id="53" name="Text 51"/>
          <p:cNvSpPr/>
          <p:nvPr/>
        </p:nvSpPr>
        <p:spPr>
          <a:xfrm>
            <a:off x="6357938" y="2174875"/>
            <a:ext cx="920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Learning Hours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487361" y="2143125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25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57938" y="2496344"/>
            <a:ext cx="5349875" cy="7938"/>
          </a:xfrm>
          <a:prstGeom prst="roundRect">
            <a:avLst>
              <a:gd name="adj" fmla="val 0"/>
            </a:avLst>
          </a:prstGeom>
          <a:solidFill>
            <a:srgbClr val="333333"/>
          </a:solidFill>
        </p:spPr>
      </p:sp>
      <p:sp>
        <p:nvSpPr>
          <p:cNvPr id="56" name="Text 54"/>
          <p:cNvSpPr/>
          <p:nvPr/>
        </p:nvSpPr>
        <p:spPr>
          <a:xfrm>
            <a:off x="6357938" y="2579688"/>
            <a:ext cx="42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Status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037094" y="2563813"/>
            <a:ext cx="674688" cy="222250"/>
          </a:xfrm>
          <a:prstGeom prst="roundRect">
            <a:avLst>
              <a:gd name="adj" fmla="val 50000"/>
            </a:avLst>
          </a:prstGeom>
          <a:solidFill>
            <a:srgbClr val="00C950">
              <a:alpha val="20000"/>
            </a:srgbClr>
          </a:solidFill>
        </p:spPr>
      </p:sp>
      <p:sp>
        <p:nvSpPr>
          <p:cNvPr id="58" name="Text 56"/>
          <p:cNvSpPr/>
          <p:nvPr/>
        </p:nvSpPr>
        <p:spPr>
          <a:xfrm>
            <a:off x="11037094" y="2563813"/>
            <a:ext cx="730250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95219" y="3083719"/>
            <a:ext cx="5675313" cy="3278188"/>
          </a:xfrm>
          <a:prstGeom prst="roundRect">
            <a:avLst>
              <a:gd name="adj" fmla="val 1937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7938" y="3246438"/>
            <a:ext cx="5421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 Core VMs Deployed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57938" y="3563938"/>
            <a:ext cx="5349875" cy="476250"/>
          </a:xfrm>
          <a:prstGeom prst="roundRect">
            <a:avLst>
              <a:gd name="adj" fmla="val 13333"/>
            </a:avLst>
          </a:prstGeom>
          <a:solidFill>
            <a:srgbClr val="191919"/>
          </a:solidFill>
        </p:spPr>
      </p:sp>
      <p:sp>
        <p:nvSpPr>
          <p:cNvPr id="62" name="Shape 60"/>
          <p:cNvSpPr/>
          <p:nvPr/>
        </p:nvSpPr>
        <p:spPr>
          <a:xfrm>
            <a:off x="6421438" y="3675063"/>
            <a:ext cx="254000" cy="254000"/>
          </a:xfrm>
          <a:prstGeom prst="roundRect">
            <a:avLst>
              <a:gd name="adj" fmla="val 125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63" name="Shape 61"/>
          <p:cNvSpPr/>
          <p:nvPr/>
        </p:nvSpPr>
        <p:spPr>
          <a:xfrm>
            <a:off x="6501805" y="374650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64" name="Text 62"/>
          <p:cNvSpPr/>
          <p:nvPr/>
        </p:nvSpPr>
        <p:spPr>
          <a:xfrm>
            <a:off x="6770688" y="3627438"/>
            <a:ext cx="1135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LOG01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770688" y="3817938"/>
            <a:ext cx="11271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Monitoring &amp; Logging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57938" y="4103688"/>
            <a:ext cx="5349875" cy="476250"/>
          </a:xfrm>
          <a:prstGeom prst="roundRect">
            <a:avLst>
              <a:gd name="adj" fmla="val 13333"/>
            </a:avLst>
          </a:prstGeom>
          <a:solidFill>
            <a:srgbClr val="191919"/>
          </a:solidFill>
        </p:spPr>
      </p:sp>
      <p:sp>
        <p:nvSpPr>
          <p:cNvPr id="67" name="Shape 65"/>
          <p:cNvSpPr/>
          <p:nvPr/>
        </p:nvSpPr>
        <p:spPr>
          <a:xfrm>
            <a:off x="6421438" y="4214813"/>
            <a:ext cx="254000" cy="254000"/>
          </a:xfrm>
          <a:prstGeom prst="roundRect">
            <a:avLst>
              <a:gd name="adj" fmla="val 125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68" name="Shape 66"/>
          <p:cNvSpPr/>
          <p:nvPr/>
        </p:nvSpPr>
        <p:spPr>
          <a:xfrm>
            <a:off x="6501805" y="428625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69" name="Text 67"/>
          <p:cNvSpPr/>
          <p:nvPr/>
        </p:nvSpPr>
        <p:spPr>
          <a:xfrm>
            <a:off x="6770688" y="4167188"/>
            <a:ext cx="992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TPOT01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770688" y="4357688"/>
            <a:ext cx="984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Network Honeypot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57938" y="4643438"/>
            <a:ext cx="5349875" cy="476250"/>
          </a:xfrm>
          <a:prstGeom prst="roundRect">
            <a:avLst>
              <a:gd name="adj" fmla="val 13333"/>
            </a:avLst>
          </a:prstGeom>
          <a:solidFill>
            <a:srgbClr val="191919"/>
          </a:solidFill>
        </p:spPr>
      </p:sp>
      <p:sp>
        <p:nvSpPr>
          <p:cNvPr id="72" name="Shape 70"/>
          <p:cNvSpPr/>
          <p:nvPr/>
        </p:nvSpPr>
        <p:spPr>
          <a:xfrm>
            <a:off x="6421438" y="4754563"/>
            <a:ext cx="254000" cy="254000"/>
          </a:xfrm>
          <a:prstGeom prst="roundRect">
            <a:avLst>
              <a:gd name="adj" fmla="val 125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73" name="Shape 71"/>
          <p:cNvSpPr/>
          <p:nvPr/>
        </p:nvSpPr>
        <p:spPr>
          <a:xfrm>
            <a:off x="6501805" y="482600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74" name="Text 72"/>
          <p:cNvSpPr/>
          <p:nvPr/>
        </p:nvSpPr>
        <p:spPr>
          <a:xfrm>
            <a:off x="6770688" y="4706938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DC01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770688" y="4897438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Domain Controller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357938" y="5183188"/>
            <a:ext cx="5349875" cy="476250"/>
          </a:xfrm>
          <a:prstGeom prst="roundRect">
            <a:avLst>
              <a:gd name="adj" fmla="val 13333"/>
            </a:avLst>
          </a:prstGeom>
          <a:solidFill>
            <a:srgbClr val="191919"/>
          </a:solidFill>
        </p:spPr>
      </p:sp>
      <p:sp>
        <p:nvSpPr>
          <p:cNvPr id="77" name="Shape 75"/>
          <p:cNvSpPr/>
          <p:nvPr/>
        </p:nvSpPr>
        <p:spPr>
          <a:xfrm>
            <a:off x="6421438" y="5294313"/>
            <a:ext cx="254000" cy="254000"/>
          </a:xfrm>
          <a:prstGeom prst="roundRect">
            <a:avLst>
              <a:gd name="adj" fmla="val 125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78" name="Shape 76"/>
          <p:cNvSpPr/>
          <p:nvPr/>
        </p:nvSpPr>
        <p:spPr>
          <a:xfrm>
            <a:off x="6501805" y="536575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79" name="Text 77"/>
          <p:cNvSpPr/>
          <p:nvPr/>
        </p:nvSpPr>
        <p:spPr>
          <a:xfrm>
            <a:off x="6770688" y="5246688"/>
            <a:ext cx="666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WS01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770688" y="5437188"/>
            <a:ext cx="658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Workstation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357938" y="5722938"/>
            <a:ext cx="5349875" cy="476250"/>
          </a:xfrm>
          <a:prstGeom prst="roundRect">
            <a:avLst>
              <a:gd name="adj" fmla="val 13333"/>
            </a:avLst>
          </a:prstGeom>
          <a:solidFill>
            <a:srgbClr val="191919"/>
          </a:solidFill>
        </p:spPr>
      </p:sp>
      <p:sp>
        <p:nvSpPr>
          <p:cNvPr id="82" name="Shape 80"/>
          <p:cNvSpPr/>
          <p:nvPr/>
        </p:nvSpPr>
        <p:spPr>
          <a:xfrm>
            <a:off x="6421438" y="5834063"/>
            <a:ext cx="254000" cy="254000"/>
          </a:xfrm>
          <a:prstGeom prst="roundRect">
            <a:avLst>
              <a:gd name="adj" fmla="val 125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83" name="Shape 81"/>
          <p:cNvSpPr/>
          <p:nvPr/>
        </p:nvSpPr>
        <p:spPr>
          <a:xfrm>
            <a:off x="6501805" y="590550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84" name="Text 82"/>
          <p:cNvSpPr/>
          <p:nvPr/>
        </p:nvSpPr>
        <p:spPr>
          <a:xfrm>
            <a:off x="6770688" y="5786438"/>
            <a:ext cx="579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FS01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6770688" y="5976938"/>
            <a:ext cx="5715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File Server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6195219" y="6496844"/>
            <a:ext cx="5675313" cy="611188"/>
          </a:xfrm>
          <a:prstGeom prst="roundRect">
            <a:avLst>
              <a:gd name="adj" fmla="val 10390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346031" y="67230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ubicBezTo>
                  <a:pt x="0" y="35567"/>
                  <a:pt x="35567" y="0"/>
                  <a:pt x="79375" y="0"/>
                </a:cubicBezTo>
                <a:close/>
                <a:moveTo>
                  <a:pt x="71934" y="37207"/>
                </a:moveTo>
                <a:lnTo>
                  <a:pt x="71934" y="79375"/>
                </a:lnTo>
                <a:cubicBezTo>
                  <a:pt x="71934" y="81855"/>
                  <a:pt x="73174" y="84181"/>
                  <a:pt x="75251" y="85576"/>
                </a:cubicBezTo>
                <a:lnTo>
                  <a:pt x="105017" y="105420"/>
                </a:lnTo>
                <a:cubicBezTo>
                  <a:pt x="108427" y="107714"/>
                  <a:pt x="113047" y="106784"/>
                  <a:pt x="115342" y="103343"/>
                </a:cubicBezTo>
                <a:cubicBezTo>
                  <a:pt x="117636" y="99901"/>
                  <a:pt x="116706" y="95312"/>
                  <a:pt x="113264" y="93018"/>
                </a:cubicBezTo>
                <a:lnTo>
                  <a:pt x="86816" y="75406"/>
                </a:lnTo>
                <a:lnTo>
                  <a:pt x="86816" y="37207"/>
                </a:lnTo>
                <a:cubicBezTo>
                  <a:pt x="86816" y="33083"/>
                  <a:pt x="83499" y="29766"/>
                  <a:pt x="79375" y="29766"/>
                </a:cubicBezTo>
                <a:cubicBezTo>
                  <a:pt x="75251" y="29766"/>
                  <a:pt x="71934" y="33083"/>
                  <a:pt x="71934" y="37207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88" name="Text 86"/>
          <p:cNvSpPr/>
          <p:nvPr/>
        </p:nvSpPr>
        <p:spPr>
          <a:xfrm>
            <a:off x="6619875" y="6627813"/>
            <a:ext cx="603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6619875" y="6786563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 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7" y="332207"/>
            <a:ext cx="11594027" cy="199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kern="0" spc="52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UPCOMING 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2207" y="597973"/>
            <a:ext cx="11677079" cy="332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Milestones: Week 5–7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2207" y="1029842"/>
            <a:ext cx="664414" cy="33221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5" name="Shape 3"/>
          <p:cNvSpPr/>
          <p:nvPr/>
        </p:nvSpPr>
        <p:spPr>
          <a:xfrm>
            <a:off x="336360" y="1233319"/>
            <a:ext cx="11519281" cy="1669341"/>
          </a:xfrm>
          <a:prstGeom prst="roundRect">
            <a:avLst>
              <a:gd name="adj" fmla="val 3980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6616" y="1403575"/>
            <a:ext cx="531531" cy="531531"/>
          </a:xfrm>
          <a:prstGeom prst="roundRect">
            <a:avLst>
              <a:gd name="adj" fmla="val 125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633919" y="1470016"/>
            <a:ext cx="323902" cy="1328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4959" y="1602899"/>
            <a:ext cx="215935" cy="265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04251" y="1403575"/>
            <a:ext cx="3322071" cy="232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Milestone 4: Network Honeypot Deployment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870958" y="1403575"/>
            <a:ext cx="822213" cy="232545"/>
          </a:xfrm>
          <a:prstGeom prst="roundRect">
            <a:avLst>
              <a:gd name="adj" fmla="val 50000"/>
            </a:avLst>
          </a:prstGeom>
          <a:solidFill>
            <a:srgbClr val="F0B100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10870958" y="1403575"/>
            <a:ext cx="880349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UPCOMING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04251" y="1735782"/>
            <a:ext cx="3405123" cy="664414"/>
          </a:xfrm>
          <a:prstGeom prst="roundRect">
            <a:avLst>
              <a:gd name="adj" fmla="val 10000"/>
            </a:avLst>
          </a:prstGeom>
          <a:solidFill>
            <a:srgbClr val="191919"/>
          </a:solidFill>
        </p:spPr>
      </p:sp>
      <p:sp>
        <p:nvSpPr>
          <p:cNvPr id="13" name="Text 11"/>
          <p:cNvSpPr/>
          <p:nvPr/>
        </p:nvSpPr>
        <p:spPr>
          <a:xfrm>
            <a:off x="1303913" y="1835444"/>
            <a:ext cx="3263935" cy="166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Learning Hours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03913" y="2034768"/>
            <a:ext cx="3305460" cy="265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35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43424" y="1735782"/>
            <a:ext cx="3405123" cy="664414"/>
          </a:xfrm>
          <a:prstGeom prst="roundRect">
            <a:avLst>
              <a:gd name="adj" fmla="val 10000"/>
            </a:avLst>
          </a:prstGeom>
          <a:solidFill>
            <a:srgbClr val="191919"/>
          </a:solidFill>
        </p:spPr>
      </p:sp>
      <p:sp>
        <p:nvSpPr>
          <p:cNvPr id="16" name="Text 14"/>
          <p:cNvSpPr/>
          <p:nvPr/>
        </p:nvSpPr>
        <p:spPr>
          <a:xfrm>
            <a:off x="4843086" y="1835444"/>
            <a:ext cx="3263935" cy="166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Primary Tool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3086" y="2034768"/>
            <a:ext cx="3272240" cy="199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T-Pot 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82662" y="1735782"/>
            <a:ext cx="3405123" cy="664414"/>
          </a:xfrm>
          <a:prstGeom prst="roundRect">
            <a:avLst>
              <a:gd name="adj" fmla="val 10000"/>
            </a:avLst>
          </a:prstGeom>
          <a:solidFill>
            <a:srgbClr val="191919"/>
          </a:solidFill>
        </p:spPr>
      </p:sp>
      <p:sp>
        <p:nvSpPr>
          <p:cNvPr id="19" name="Text 17"/>
          <p:cNvSpPr/>
          <p:nvPr/>
        </p:nvSpPr>
        <p:spPr>
          <a:xfrm>
            <a:off x="8382324" y="1835444"/>
            <a:ext cx="3263935" cy="166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Focus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324" y="2034768"/>
            <a:ext cx="3272240" cy="199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Service Config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04251" y="2499858"/>
            <a:ext cx="938485" cy="232545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1204251" y="2499858"/>
            <a:ext cx="996621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SSH honeypot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206971" y="2499858"/>
            <a:ext cx="955095" cy="232545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2206971" y="2499858"/>
            <a:ext cx="1013232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Web honeypot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25264" y="2499858"/>
            <a:ext cx="913569" cy="232545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3225264" y="2499858"/>
            <a:ext cx="971706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Banner tuning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01122" y="2499858"/>
            <a:ext cx="1162725" cy="232545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4201122" y="2499858"/>
            <a:ext cx="1220861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Credential seeding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6360" y="3043847"/>
            <a:ext cx="11519281" cy="1669341"/>
          </a:xfrm>
          <a:prstGeom prst="roundRect">
            <a:avLst>
              <a:gd name="adj" fmla="val 3980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6616" y="3214104"/>
            <a:ext cx="531531" cy="531531"/>
          </a:xfrm>
          <a:prstGeom prst="roundRect">
            <a:avLst>
              <a:gd name="adj" fmla="val 125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33919" y="3280545"/>
            <a:ext cx="323902" cy="1328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1980" y="3413428"/>
            <a:ext cx="398649" cy="265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6-7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04251" y="3214104"/>
            <a:ext cx="3247324" cy="232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Milestone 5: Host-Level Environment Setup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870958" y="3214104"/>
            <a:ext cx="822213" cy="232545"/>
          </a:xfrm>
          <a:prstGeom prst="roundRect">
            <a:avLst>
              <a:gd name="adj" fmla="val 50000"/>
            </a:avLst>
          </a:prstGeom>
          <a:solidFill>
            <a:srgbClr val="F0B100">
              <a:alpha val="20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10870958" y="3214104"/>
            <a:ext cx="880349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UPCOMING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04251" y="3546311"/>
            <a:ext cx="3405123" cy="664414"/>
          </a:xfrm>
          <a:prstGeom prst="roundRect">
            <a:avLst>
              <a:gd name="adj" fmla="val 10000"/>
            </a:avLst>
          </a:prstGeom>
          <a:solidFill>
            <a:srgbClr val="191919"/>
          </a:solidFill>
        </p:spPr>
      </p:sp>
      <p:sp>
        <p:nvSpPr>
          <p:cNvPr id="37" name="Text 35"/>
          <p:cNvSpPr/>
          <p:nvPr/>
        </p:nvSpPr>
        <p:spPr>
          <a:xfrm>
            <a:off x="1303913" y="3645973"/>
            <a:ext cx="3263935" cy="166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Learning Hours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03913" y="3845297"/>
            <a:ext cx="3305460" cy="265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45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743424" y="3546311"/>
            <a:ext cx="3405123" cy="664414"/>
          </a:xfrm>
          <a:prstGeom prst="roundRect">
            <a:avLst>
              <a:gd name="adj" fmla="val 10000"/>
            </a:avLst>
          </a:prstGeom>
          <a:solidFill>
            <a:srgbClr val="191919"/>
          </a:solidFill>
        </p:spPr>
      </p:sp>
      <p:sp>
        <p:nvSpPr>
          <p:cNvPr id="40" name="Text 38"/>
          <p:cNvSpPr/>
          <p:nvPr/>
        </p:nvSpPr>
        <p:spPr>
          <a:xfrm>
            <a:off x="4843086" y="3645973"/>
            <a:ext cx="3263935" cy="166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Primary Tool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843086" y="3845297"/>
            <a:ext cx="3272240" cy="199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GOAD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82662" y="3546311"/>
            <a:ext cx="3405123" cy="664414"/>
          </a:xfrm>
          <a:prstGeom prst="roundRect">
            <a:avLst>
              <a:gd name="adj" fmla="val 10000"/>
            </a:avLst>
          </a:prstGeom>
          <a:solidFill>
            <a:srgbClr val="191919"/>
          </a:solidFill>
        </p:spPr>
      </p:sp>
      <p:sp>
        <p:nvSpPr>
          <p:cNvPr id="43" name="Text 41"/>
          <p:cNvSpPr/>
          <p:nvPr/>
        </p:nvSpPr>
        <p:spPr>
          <a:xfrm>
            <a:off x="8382324" y="3645973"/>
            <a:ext cx="3263935" cy="166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Focus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82324" y="3845297"/>
            <a:ext cx="3272240" cy="199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 + Hosts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204251" y="4310387"/>
            <a:ext cx="1029842" cy="232545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1204251" y="4310387"/>
            <a:ext cx="1087978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Active Directory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297355" y="4310387"/>
            <a:ext cx="1112894" cy="232545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2297355" y="4310387"/>
            <a:ext cx="1171030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Domain controller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472667" y="4310387"/>
            <a:ext cx="1137809" cy="232545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3472667" y="4310387"/>
            <a:ext cx="1195946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Workstation setup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680486" y="4310387"/>
            <a:ext cx="1021537" cy="232545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4680486" y="4310387"/>
            <a:ext cx="1079673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Decoy accounts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36360" y="4854376"/>
            <a:ext cx="11519281" cy="1669341"/>
          </a:xfrm>
          <a:prstGeom prst="roundRect">
            <a:avLst>
              <a:gd name="adj" fmla="val 3980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6616" y="5024632"/>
            <a:ext cx="531531" cy="531531"/>
          </a:xfrm>
          <a:prstGeom prst="roundRect">
            <a:avLst>
              <a:gd name="adj" fmla="val 125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55" name="Text 53"/>
          <p:cNvSpPr/>
          <p:nvPr/>
        </p:nvSpPr>
        <p:spPr>
          <a:xfrm>
            <a:off x="633919" y="5091074"/>
            <a:ext cx="323902" cy="1328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11131" y="5223956"/>
            <a:ext cx="224240" cy="265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204251" y="5024632"/>
            <a:ext cx="3538005" cy="232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Milestone 6: Deception Artifact Implementation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870958" y="5024632"/>
            <a:ext cx="822213" cy="232545"/>
          </a:xfrm>
          <a:prstGeom prst="roundRect">
            <a:avLst>
              <a:gd name="adj" fmla="val 50000"/>
            </a:avLst>
          </a:prstGeom>
          <a:solidFill>
            <a:srgbClr val="F0B100">
              <a:alpha val="20000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10870958" y="5024632"/>
            <a:ext cx="880349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UPCOMING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204251" y="5356839"/>
            <a:ext cx="3405123" cy="664414"/>
          </a:xfrm>
          <a:prstGeom prst="roundRect">
            <a:avLst>
              <a:gd name="adj" fmla="val 10000"/>
            </a:avLst>
          </a:prstGeom>
          <a:solidFill>
            <a:srgbClr val="191919"/>
          </a:solidFill>
        </p:spPr>
      </p:sp>
      <p:sp>
        <p:nvSpPr>
          <p:cNvPr id="61" name="Text 59"/>
          <p:cNvSpPr/>
          <p:nvPr/>
        </p:nvSpPr>
        <p:spPr>
          <a:xfrm>
            <a:off x="1303913" y="5456501"/>
            <a:ext cx="3263935" cy="166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Learning Hours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303913" y="5655826"/>
            <a:ext cx="3305460" cy="265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25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743424" y="5356839"/>
            <a:ext cx="3405123" cy="664414"/>
          </a:xfrm>
          <a:prstGeom prst="roundRect">
            <a:avLst>
              <a:gd name="adj" fmla="val 10000"/>
            </a:avLst>
          </a:prstGeom>
          <a:solidFill>
            <a:srgbClr val="191919"/>
          </a:solidFill>
        </p:spPr>
      </p:sp>
      <p:sp>
        <p:nvSpPr>
          <p:cNvPr id="64" name="Text 62"/>
          <p:cNvSpPr/>
          <p:nvPr/>
        </p:nvSpPr>
        <p:spPr>
          <a:xfrm>
            <a:off x="4843086" y="5456501"/>
            <a:ext cx="3263935" cy="166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Focus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843086" y="5655826"/>
            <a:ext cx="3272240" cy="199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Artifacts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82662" y="5356839"/>
            <a:ext cx="3405123" cy="664414"/>
          </a:xfrm>
          <a:prstGeom prst="roundRect">
            <a:avLst>
              <a:gd name="adj" fmla="val 10000"/>
            </a:avLst>
          </a:prstGeom>
          <a:solidFill>
            <a:srgbClr val="191919"/>
          </a:solidFill>
        </p:spPr>
      </p:sp>
      <p:sp>
        <p:nvSpPr>
          <p:cNvPr id="67" name="Text 65"/>
          <p:cNvSpPr/>
          <p:nvPr/>
        </p:nvSpPr>
        <p:spPr>
          <a:xfrm>
            <a:off x="8382324" y="5456501"/>
            <a:ext cx="3263935" cy="166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Scope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82324" y="5655826"/>
            <a:ext cx="3272240" cy="199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All Layers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204251" y="6120916"/>
            <a:ext cx="1038147" cy="232545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70" name="Text 68"/>
          <p:cNvSpPr/>
          <p:nvPr/>
        </p:nvSpPr>
        <p:spPr>
          <a:xfrm>
            <a:off x="1204251" y="6120916"/>
            <a:ext cx="1096283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Fake credentials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2307087" y="6120916"/>
            <a:ext cx="1129504" cy="232545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72" name="Text 70"/>
          <p:cNvSpPr/>
          <p:nvPr/>
        </p:nvSpPr>
        <p:spPr>
          <a:xfrm>
            <a:off x="2307087" y="6120916"/>
            <a:ext cx="1187640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Decoy documents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503876" y="6120916"/>
            <a:ext cx="639499" cy="232545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74" name="Text 72"/>
          <p:cNvSpPr/>
          <p:nvPr/>
        </p:nvSpPr>
        <p:spPr>
          <a:xfrm>
            <a:off x="3503876" y="6120916"/>
            <a:ext cx="697635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API keys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4210011" y="6120916"/>
            <a:ext cx="1079673" cy="232545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76" name="Text 74"/>
          <p:cNvSpPr/>
          <p:nvPr/>
        </p:nvSpPr>
        <p:spPr>
          <a:xfrm>
            <a:off x="4210011" y="6120916"/>
            <a:ext cx="1137809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Cloud references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UPCOMING 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Milestones: Week 9–12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31750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5" name="Shape 3"/>
          <p:cNvSpPr/>
          <p:nvPr/>
        </p:nvSpPr>
        <p:spPr>
          <a:xfrm>
            <a:off x="321469" y="1178719"/>
            <a:ext cx="5691188" cy="1373188"/>
          </a:xfrm>
          <a:prstGeom prst="roundRect">
            <a:avLst>
              <a:gd name="adj" fmla="val 4624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187" y="1341438"/>
            <a:ext cx="381000" cy="38100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574229" y="1436688"/>
            <a:ext cx="261937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438" y="1341438"/>
            <a:ext cx="9842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Milestone 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438" y="1563688"/>
            <a:ext cx="968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Telemetry Pipeline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68094" y="1420813"/>
            <a:ext cx="785813" cy="222250"/>
          </a:xfrm>
          <a:prstGeom prst="roundRect">
            <a:avLst>
              <a:gd name="adj" fmla="val 50000"/>
            </a:avLst>
          </a:prstGeom>
          <a:solidFill>
            <a:srgbClr val="F0B100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5068094" y="1420813"/>
            <a:ext cx="841375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UPCOMING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187" y="1817688"/>
            <a:ext cx="2635250" cy="571500"/>
          </a:xfrm>
          <a:prstGeom prst="roundRect">
            <a:avLst>
              <a:gd name="adj" fmla="val 5556"/>
            </a:avLst>
          </a:prstGeom>
          <a:solidFill>
            <a:srgbClr val="191919"/>
          </a:solidFill>
        </p:spPr>
      </p:sp>
      <p:sp>
        <p:nvSpPr>
          <p:cNvPr id="13" name="Text 11"/>
          <p:cNvSpPr/>
          <p:nvPr/>
        </p:nvSpPr>
        <p:spPr>
          <a:xfrm>
            <a:off x="579438" y="1912938"/>
            <a:ext cx="2500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Hours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438" y="2071688"/>
            <a:ext cx="2524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14688" y="1817688"/>
            <a:ext cx="2635250" cy="571500"/>
          </a:xfrm>
          <a:prstGeom prst="roundRect">
            <a:avLst>
              <a:gd name="adj" fmla="val 5556"/>
            </a:avLst>
          </a:prstGeom>
          <a:solidFill>
            <a:srgbClr val="191919"/>
          </a:solidFill>
        </p:spPr>
      </p:sp>
      <p:sp>
        <p:nvSpPr>
          <p:cNvPr id="16" name="Text 14"/>
          <p:cNvSpPr/>
          <p:nvPr/>
        </p:nvSpPr>
        <p:spPr>
          <a:xfrm>
            <a:off x="3309938" y="1912938"/>
            <a:ext cx="2500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Output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09938" y="2071688"/>
            <a:ext cx="2508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Structured Logs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1469" y="2686844"/>
            <a:ext cx="5691188" cy="1373188"/>
          </a:xfrm>
          <a:prstGeom prst="roundRect">
            <a:avLst>
              <a:gd name="adj" fmla="val 4624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" y="2849563"/>
            <a:ext cx="381000" cy="38100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546261" y="2944813"/>
            <a:ext cx="317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W10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438" y="2849563"/>
            <a:ext cx="11430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Milestone 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438" y="3071813"/>
            <a:ext cx="11271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Experiment Execution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68094" y="2928938"/>
            <a:ext cx="785813" cy="222250"/>
          </a:xfrm>
          <a:prstGeom prst="roundRect">
            <a:avLst>
              <a:gd name="adj" fmla="val 50000"/>
            </a:avLst>
          </a:prstGeom>
          <a:solidFill>
            <a:srgbClr val="F0B100">
              <a:alpha val="2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5068094" y="2928938"/>
            <a:ext cx="841375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UPCOMING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187" y="3325813"/>
            <a:ext cx="2635250" cy="571500"/>
          </a:xfrm>
          <a:prstGeom prst="roundRect">
            <a:avLst>
              <a:gd name="adj" fmla="val 5556"/>
            </a:avLst>
          </a:prstGeom>
          <a:solidFill>
            <a:srgbClr val="191919"/>
          </a:solidFill>
        </p:spPr>
      </p:sp>
      <p:sp>
        <p:nvSpPr>
          <p:cNvPr id="26" name="Text 24"/>
          <p:cNvSpPr/>
          <p:nvPr/>
        </p:nvSpPr>
        <p:spPr>
          <a:xfrm>
            <a:off x="579438" y="3421063"/>
            <a:ext cx="2500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Hours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9438" y="3579813"/>
            <a:ext cx="2524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14688" y="3325813"/>
            <a:ext cx="2635250" cy="571500"/>
          </a:xfrm>
          <a:prstGeom prst="roundRect">
            <a:avLst>
              <a:gd name="adj" fmla="val 5556"/>
            </a:avLst>
          </a:prstGeom>
          <a:solidFill>
            <a:srgbClr val="191919"/>
          </a:solidFill>
        </p:spPr>
      </p:sp>
      <p:sp>
        <p:nvSpPr>
          <p:cNvPr id="29" name="Text 27"/>
          <p:cNvSpPr/>
          <p:nvPr/>
        </p:nvSpPr>
        <p:spPr>
          <a:xfrm>
            <a:off x="3309938" y="3421063"/>
            <a:ext cx="2500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Scenarios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09938" y="3579813"/>
            <a:ext cx="2508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A, B, C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1469" y="4194969"/>
            <a:ext cx="5691188" cy="1373188"/>
          </a:xfrm>
          <a:prstGeom prst="roundRect">
            <a:avLst>
              <a:gd name="adj" fmla="val 4624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187" y="4357688"/>
            <a:ext cx="381000" cy="38100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561392" y="4452938"/>
            <a:ext cx="293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W11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60438" y="4357688"/>
            <a:ext cx="1079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Milestone 9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0438" y="4579938"/>
            <a:ext cx="1063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Behavioural Analysis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68094" y="4437063"/>
            <a:ext cx="785813" cy="222250"/>
          </a:xfrm>
          <a:prstGeom prst="roundRect">
            <a:avLst>
              <a:gd name="adj" fmla="val 50000"/>
            </a:avLst>
          </a:prstGeom>
          <a:solidFill>
            <a:srgbClr val="F0B100">
              <a:alpha val="20000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5068094" y="4437063"/>
            <a:ext cx="841375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UPCOMING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4187" y="4833938"/>
            <a:ext cx="2635250" cy="571500"/>
          </a:xfrm>
          <a:prstGeom prst="roundRect">
            <a:avLst>
              <a:gd name="adj" fmla="val 5556"/>
            </a:avLst>
          </a:prstGeom>
          <a:solidFill>
            <a:srgbClr val="191919"/>
          </a:solidFill>
        </p:spPr>
      </p:sp>
      <p:sp>
        <p:nvSpPr>
          <p:cNvPr id="39" name="Text 37"/>
          <p:cNvSpPr/>
          <p:nvPr/>
        </p:nvSpPr>
        <p:spPr>
          <a:xfrm>
            <a:off x="579438" y="4929188"/>
            <a:ext cx="2500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Hours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79438" y="5087938"/>
            <a:ext cx="2524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14688" y="4833938"/>
            <a:ext cx="2635250" cy="571500"/>
          </a:xfrm>
          <a:prstGeom prst="roundRect">
            <a:avLst>
              <a:gd name="adj" fmla="val 5556"/>
            </a:avLst>
          </a:prstGeom>
          <a:solidFill>
            <a:srgbClr val="191919"/>
          </a:solidFill>
        </p:spPr>
      </p:sp>
      <p:sp>
        <p:nvSpPr>
          <p:cNvPr id="42" name="Text 40"/>
          <p:cNvSpPr/>
          <p:nvPr/>
        </p:nvSpPr>
        <p:spPr>
          <a:xfrm>
            <a:off x="3309938" y="4929188"/>
            <a:ext cx="2500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Output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309938" y="5087938"/>
            <a:ext cx="2508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Metrics + Paths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21469" y="5703094"/>
            <a:ext cx="5691188" cy="1373188"/>
          </a:xfrm>
          <a:prstGeom prst="roundRect">
            <a:avLst>
              <a:gd name="adj" fmla="val 4624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187" y="5865813"/>
            <a:ext cx="381000" cy="381000"/>
          </a:xfrm>
          <a:prstGeom prst="roundRect">
            <a:avLst>
              <a:gd name="adj" fmla="val 16667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549858" y="5961063"/>
            <a:ext cx="309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W12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60438" y="5865813"/>
            <a:ext cx="873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Milestone 10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60438" y="6088063"/>
            <a:ext cx="857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Final Report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068094" y="5945188"/>
            <a:ext cx="785813" cy="222250"/>
          </a:xfrm>
          <a:prstGeom prst="roundRect">
            <a:avLst>
              <a:gd name="adj" fmla="val 50000"/>
            </a:avLst>
          </a:prstGeom>
          <a:solidFill>
            <a:srgbClr val="F0B100">
              <a:alpha val="20000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5068094" y="5945188"/>
            <a:ext cx="841375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UPCOMING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84187" y="6342063"/>
            <a:ext cx="2635250" cy="571500"/>
          </a:xfrm>
          <a:prstGeom prst="roundRect">
            <a:avLst>
              <a:gd name="adj" fmla="val 5556"/>
            </a:avLst>
          </a:prstGeom>
          <a:solidFill>
            <a:srgbClr val="191919"/>
          </a:solidFill>
        </p:spPr>
      </p:sp>
      <p:sp>
        <p:nvSpPr>
          <p:cNvPr id="52" name="Text 50"/>
          <p:cNvSpPr/>
          <p:nvPr/>
        </p:nvSpPr>
        <p:spPr>
          <a:xfrm>
            <a:off x="579438" y="6437313"/>
            <a:ext cx="2500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Hours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79438" y="6596063"/>
            <a:ext cx="2524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25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214688" y="6342063"/>
            <a:ext cx="2635250" cy="571500"/>
          </a:xfrm>
          <a:prstGeom prst="roundRect">
            <a:avLst>
              <a:gd name="adj" fmla="val 5556"/>
            </a:avLst>
          </a:prstGeom>
          <a:solidFill>
            <a:srgbClr val="191919"/>
          </a:solidFill>
        </p:spPr>
      </p:sp>
      <p:sp>
        <p:nvSpPr>
          <p:cNvPr id="55" name="Text 53"/>
          <p:cNvSpPr/>
          <p:nvPr/>
        </p:nvSpPr>
        <p:spPr>
          <a:xfrm>
            <a:off x="3309938" y="6437313"/>
            <a:ext cx="2500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Output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309938" y="6596063"/>
            <a:ext cx="2508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Capstone Report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79344" y="1178719"/>
            <a:ext cx="5691188" cy="5897563"/>
          </a:xfrm>
          <a:prstGeom prst="roundRect">
            <a:avLst>
              <a:gd name="adj" fmla="val 1116"/>
            </a:avLst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42063" y="1341438"/>
            <a:ext cx="5445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 Project Timeline</a:t>
            </a:r>
            <a:endParaRPr lang="en-US" sz="1600" dirty="0"/>
          </a:p>
        </p:txBody>
      </p:sp>
      <p:pic>
        <p:nvPicPr>
          <p:cNvPr id="59" name="Image 0" descr="https://kimi-img.moonshot.cn/pub/slides/26-04-21-14:39:28-d7jhn83of8js5e185cg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42063" y="1690688"/>
            <a:ext cx="4349750" cy="396875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321" y="340321"/>
            <a:ext cx="11579422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kern="0" spc="54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0321" y="612578"/>
            <a:ext cx="11664502" cy="3403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Assessment &amp; Mitigation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0321" y="1054995"/>
            <a:ext cx="680642" cy="34032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5" name="Shape 3"/>
          <p:cNvSpPr/>
          <p:nvPr/>
        </p:nvSpPr>
        <p:spPr>
          <a:xfrm>
            <a:off x="344575" y="1263442"/>
            <a:ext cx="5657837" cy="2016402"/>
          </a:xfrm>
          <a:prstGeom prst="roundRect">
            <a:avLst>
              <a:gd name="adj" fmla="val 3376"/>
            </a:avLst>
          </a:prstGeom>
          <a:solidFill>
            <a:srgbClr val="262626"/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990" y="1437856"/>
            <a:ext cx="408385" cy="408385"/>
          </a:xfrm>
          <a:prstGeom prst="roundRect">
            <a:avLst>
              <a:gd name="adj" fmla="val 16667"/>
            </a:avLst>
          </a:prstGeom>
          <a:solidFill>
            <a:srgbClr val="FB2C36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38102" y="1556969"/>
            <a:ext cx="170161" cy="170161"/>
          </a:xfrm>
          <a:custGeom>
            <a:avLst/>
            <a:gdLst/>
            <a:ahLst/>
            <a:cxnLst/>
            <a:rect l="l" t="t" r="r" b="b"/>
            <a:pathLst>
              <a:path w="170161" h="170161">
                <a:moveTo>
                  <a:pt x="21270" y="21270"/>
                </a:moveTo>
                <a:cubicBezTo>
                  <a:pt x="9538" y="21270"/>
                  <a:pt x="0" y="30808"/>
                  <a:pt x="0" y="42540"/>
                </a:cubicBezTo>
                <a:lnTo>
                  <a:pt x="0" y="44999"/>
                </a:lnTo>
                <a:cubicBezTo>
                  <a:pt x="0" y="47259"/>
                  <a:pt x="1462" y="49187"/>
                  <a:pt x="3357" y="50417"/>
                </a:cubicBezTo>
                <a:cubicBezTo>
                  <a:pt x="7744" y="53275"/>
                  <a:pt x="10635" y="58194"/>
                  <a:pt x="10635" y="63810"/>
                </a:cubicBezTo>
                <a:cubicBezTo>
                  <a:pt x="10635" y="69427"/>
                  <a:pt x="7744" y="74346"/>
                  <a:pt x="3357" y="77204"/>
                </a:cubicBezTo>
                <a:cubicBezTo>
                  <a:pt x="1462" y="78433"/>
                  <a:pt x="0" y="80361"/>
                  <a:pt x="0" y="82621"/>
                </a:cubicBezTo>
                <a:lnTo>
                  <a:pt x="0" y="101033"/>
                </a:lnTo>
                <a:lnTo>
                  <a:pt x="170161" y="101033"/>
                </a:lnTo>
                <a:lnTo>
                  <a:pt x="170161" y="82621"/>
                </a:lnTo>
                <a:cubicBezTo>
                  <a:pt x="170161" y="80361"/>
                  <a:pt x="168698" y="78433"/>
                  <a:pt x="166804" y="77204"/>
                </a:cubicBezTo>
                <a:cubicBezTo>
                  <a:pt x="162417" y="74346"/>
                  <a:pt x="159525" y="69427"/>
                  <a:pt x="159525" y="63810"/>
                </a:cubicBezTo>
                <a:cubicBezTo>
                  <a:pt x="159525" y="58194"/>
                  <a:pt x="162417" y="53275"/>
                  <a:pt x="166804" y="50417"/>
                </a:cubicBezTo>
                <a:cubicBezTo>
                  <a:pt x="168698" y="49187"/>
                  <a:pt x="170161" y="47259"/>
                  <a:pt x="170161" y="44999"/>
                </a:cubicBezTo>
                <a:lnTo>
                  <a:pt x="170161" y="42540"/>
                </a:lnTo>
                <a:cubicBezTo>
                  <a:pt x="170161" y="30808"/>
                  <a:pt x="160622" y="21270"/>
                  <a:pt x="148890" y="21270"/>
                </a:cubicBezTo>
                <a:lnTo>
                  <a:pt x="21270" y="21270"/>
                </a:lnTo>
                <a:close/>
                <a:moveTo>
                  <a:pt x="170161" y="138255"/>
                </a:moveTo>
                <a:lnTo>
                  <a:pt x="170161" y="116985"/>
                </a:lnTo>
                <a:lnTo>
                  <a:pt x="0" y="116985"/>
                </a:lnTo>
                <a:lnTo>
                  <a:pt x="0" y="138255"/>
                </a:lnTo>
                <a:cubicBezTo>
                  <a:pt x="0" y="144138"/>
                  <a:pt x="4753" y="148890"/>
                  <a:pt x="10635" y="148890"/>
                </a:cubicBezTo>
                <a:lnTo>
                  <a:pt x="31905" y="148890"/>
                </a:lnTo>
                <a:lnTo>
                  <a:pt x="31905" y="140914"/>
                </a:lnTo>
                <a:cubicBezTo>
                  <a:pt x="31905" y="136494"/>
                  <a:pt x="35461" y="132938"/>
                  <a:pt x="39881" y="132938"/>
                </a:cubicBezTo>
                <a:cubicBezTo>
                  <a:pt x="44302" y="132938"/>
                  <a:pt x="47858" y="136494"/>
                  <a:pt x="47858" y="140914"/>
                </a:cubicBezTo>
                <a:lnTo>
                  <a:pt x="47858" y="148890"/>
                </a:lnTo>
                <a:lnTo>
                  <a:pt x="77104" y="148890"/>
                </a:lnTo>
                <a:lnTo>
                  <a:pt x="77104" y="140914"/>
                </a:lnTo>
                <a:cubicBezTo>
                  <a:pt x="77104" y="136494"/>
                  <a:pt x="80660" y="132938"/>
                  <a:pt x="85080" y="132938"/>
                </a:cubicBezTo>
                <a:cubicBezTo>
                  <a:pt x="89500" y="132938"/>
                  <a:pt x="93057" y="136494"/>
                  <a:pt x="93057" y="140914"/>
                </a:cubicBezTo>
                <a:lnTo>
                  <a:pt x="93057" y="148890"/>
                </a:lnTo>
                <a:lnTo>
                  <a:pt x="122303" y="148890"/>
                </a:lnTo>
                <a:lnTo>
                  <a:pt x="122303" y="140914"/>
                </a:lnTo>
                <a:cubicBezTo>
                  <a:pt x="122303" y="136494"/>
                  <a:pt x="125859" y="132938"/>
                  <a:pt x="130279" y="132938"/>
                </a:cubicBezTo>
                <a:cubicBezTo>
                  <a:pt x="134699" y="132938"/>
                  <a:pt x="138255" y="136494"/>
                  <a:pt x="138255" y="140914"/>
                </a:cubicBezTo>
                <a:lnTo>
                  <a:pt x="138255" y="148890"/>
                </a:lnTo>
                <a:lnTo>
                  <a:pt x="159525" y="148890"/>
                </a:lnTo>
                <a:cubicBezTo>
                  <a:pt x="165408" y="148890"/>
                  <a:pt x="170161" y="144138"/>
                  <a:pt x="170161" y="138255"/>
                </a:cubicBezTo>
                <a:close/>
                <a:moveTo>
                  <a:pt x="53175" y="53175"/>
                </a:moveTo>
                <a:lnTo>
                  <a:pt x="53175" y="74445"/>
                </a:lnTo>
                <a:cubicBezTo>
                  <a:pt x="53175" y="80328"/>
                  <a:pt x="48423" y="85080"/>
                  <a:pt x="42540" y="85080"/>
                </a:cubicBezTo>
                <a:cubicBezTo>
                  <a:pt x="36658" y="85080"/>
                  <a:pt x="31905" y="80328"/>
                  <a:pt x="31905" y="74445"/>
                </a:cubicBezTo>
                <a:lnTo>
                  <a:pt x="31905" y="53175"/>
                </a:lnTo>
                <a:cubicBezTo>
                  <a:pt x="31905" y="47293"/>
                  <a:pt x="36658" y="42540"/>
                  <a:pt x="42540" y="42540"/>
                </a:cubicBezTo>
                <a:cubicBezTo>
                  <a:pt x="48423" y="42540"/>
                  <a:pt x="53175" y="47293"/>
                  <a:pt x="53175" y="53175"/>
                </a:cubicBezTo>
                <a:close/>
                <a:moveTo>
                  <a:pt x="95715" y="53175"/>
                </a:moveTo>
                <a:lnTo>
                  <a:pt x="95715" y="74445"/>
                </a:lnTo>
                <a:cubicBezTo>
                  <a:pt x="95715" y="80328"/>
                  <a:pt x="90963" y="85080"/>
                  <a:pt x="85080" y="85080"/>
                </a:cubicBezTo>
                <a:cubicBezTo>
                  <a:pt x="79198" y="85080"/>
                  <a:pt x="74445" y="80328"/>
                  <a:pt x="74445" y="74445"/>
                </a:cubicBezTo>
                <a:lnTo>
                  <a:pt x="74445" y="53175"/>
                </a:lnTo>
                <a:cubicBezTo>
                  <a:pt x="74445" y="47293"/>
                  <a:pt x="79198" y="42540"/>
                  <a:pt x="85080" y="42540"/>
                </a:cubicBezTo>
                <a:cubicBezTo>
                  <a:pt x="90963" y="42540"/>
                  <a:pt x="95715" y="47293"/>
                  <a:pt x="95715" y="53175"/>
                </a:cubicBezTo>
                <a:close/>
                <a:moveTo>
                  <a:pt x="138255" y="53175"/>
                </a:moveTo>
                <a:lnTo>
                  <a:pt x="138255" y="74445"/>
                </a:lnTo>
                <a:cubicBezTo>
                  <a:pt x="138255" y="80328"/>
                  <a:pt x="133503" y="85080"/>
                  <a:pt x="127620" y="85080"/>
                </a:cubicBezTo>
                <a:cubicBezTo>
                  <a:pt x="121738" y="85080"/>
                  <a:pt x="116985" y="80328"/>
                  <a:pt x="116985" y="74445"/>
                </a:cubicBezTo>
                <a:lnTo>
                  <a:pt x="116985" y="53175"/>
                </a:lnTo>
                <a:cubicBezTo>
                  <a:pt x="116985" y="47293"/>
                  <a:pt x="121738" y="42540"/>
                  <a:pt x="127620" y="42540"/>
                </a:cubicBezTo>
                <a:cubicBezTo>
                  <a:pt x="133503" y="42540"/>
                  <a:pt x="138255" y="47293"/>
                  <a:pt x="138255" y="53175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8" name="Text 6"/>
          <p:cNvSpPr/>
          <p:nvPr/>
        </p:nvSpPr>
        <p:spPr>
          <a:xfrm>
            <a:off x="1063503" y="1437856"/>
            <a:ext cx="4841066" cy="2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RAM Pressure Risk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3503" y="1744145"/>
            <a:ext cx="4832558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Running multiple VMs simultaneously may exceed 32GB capacity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3503" y="2050434"/>
            <a:ext cx="4764494" cy="1054995"/>
          </a:xfrm>
          <a:prstGeom prst="roundRect">
            <a:avLst>
              <a:gd name="adj" fmla="val 6452"/>
            </a:avLst>
          </a:prstGeom>
          <a:solidFill>
            <a:srgbClr val="191919"/>
          </a:solidFill>
        </p:spPr>
      </p:sp>
      <p:sp>
        <p:nvSpPr>
          <p:cNvPr id="11" name="Shape 9"/>
          <p:cNvSpPr/>
          <p:nvPr/>
        </p:nvSpPr>
        <p:spPr>
          <a:xfrm>
            <a:off x="1182615" y="2186562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68064" y="0"/>
                </a:moveTo>
                <a:cubicBezTo>
                  <a:pt x="69287" y="0"/>
                  <a:pt x="70510" y="266"/>
                  <a:pt x="71627" y="771"/>
                </a:cubicBezTo>
                <a:lnTo>
                  <a:pt x="121718" y="22015"/>
                </a:lnTo>
                <a:cubicBezTo>
                  <a:pt x="127567" y="24487"/>
                  <a:pt x="131928" y="30257"/>
                  <a:pt x="131901" y="37223"/>
                </a:cubicBezTo>
                <a:cubicBezTo>
                  <a:pt x="131768" y="63597"/>
                  <a:pt x="120920" y="111854"/>
                  <a:pt x="75110" y="133789"/>
                </a:cubicBezTo>
                <a:cubicBezTo>
                  <a:pt x="70670" y="135916"/>
                  <a:pt x="65512" y="135916"/>
                  <a:pt x="61072" y="133789"/>
                </a:cubicBezTo>
                <a:cubicBezTo>
                  <a:pt x="15235" y="111854"/>
                  <a:pt x="4414" y="63597"/>
                  <a:pt x="4281" y="37223"/>
                </a:cubicBezTo>
                <a:cubicBezTo>
                  <a:pt x="4254" y="30257"/>
                  <a:pt x="8614" y="24487"/>
                  <a:pt x="14464" y="22015"/>
                </a:cubicBezTo>
                <a:lnTo>
                  <a:pt x="64528" y="771"/>
                </a:lnTo>
                <a:cubicBezTo>
                  <a:pt x="65645" y="266"/>
                  <a:pt x="66841" y="0"/>
                  <a:pt x="68064" y="0"/>
                </a:cubicBezTo>
                <a:close/>
                <a:moveTo>
                  <a:pt x="68064" y="17761"/>
                </a:moveTo>
                <a:lnTo>
                  <a:pt x="68064" y="118288"/>
                </a:lnTo>
                <a:cubicBezTo>
                  <a:pt x="104755" y="100528"/>
                  <a:pt x="114619" y="61178"/>
                  <a:pt x="114858" y="37621"/>
                </a:cubicBezTo>
                <a:lnTo>
                  <a:pt x="68064" y="17787"/>
                </a:lnTo>
                <a:lnTo>
                  <a:pt x="68064" y="17787"/>
                </a:lnTo>
                <a:close/>
              </a:path>
            </a:pathLst>
          </a:custGeom>
          <a:solidFill>
            <a:srgbClr val="05DF72"/>
          </a:solidFill>
        </p:spPr>
      </p:sp>
      <p:sp>
        <p:nvSpPr>
          <p:cNvPr id="12" name="Text 10"/>
          <p:cNvSpPr/>
          <p:nvPr/>
        </p:nvSpPr>
        <p:spPr>
          <a:xfrm>
            <a:off x="1403824" y="2152530"/>
            <a:ext cx="680642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65599" y="2424787"/>
            <a:ext cx="4619858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Use 5-VM baseline (26GB)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65599" y="2628980"/>
            <a:ext cx="4619858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Defer optional VM6 (ADM01)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5599" y="2833172"/>
            <a:ext cx="4619858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Monitor resource usage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4575" y="3424480"/>
            <a:ext cx="5657837" cy="2016402"/>
          </a:xfrm>
          <a:prstGeom prst="roundRect">
            <a:avLst>
              <a:gd name="adj" fmla="val 3376"/>
            </a:avLst>
          </a:prstGeom>
          <a:solidFill>
            <a:srgbClr val="262626"/>
          </a:solidFill>
          <a:ln w="12700">
            <a:solidFill>
              <a:srgbClr val="F0B100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8990" y="3598895"/>
            <a:ext cx="408385" cy="408385"/>
          </a:xfrm>
          <a:prstGeom prst="roundRect">
            <a:avLst>
              <a:gd name="adj" fmla="val 16667"/>
            </a:avLst>
          </a:prstGeom>
          <a:solidFill>
            <a:srgbClr val="F0B100">
              <a:alpha val="2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638102" y="3718007"/>
            <a:ext cx="170161" cy="170161"/>
          </a:xfrm>
          <a:custGeom>
            <a:avLst/>
            <a:gdLst/>
            <a:ahLst/>
            <a:cxnLst/>
            <a:rect l="l" t="t" r="r" b="b"/>
            <a:pathLst>
              <a:path w="170161" h="170161">
                <a:moveTo>
                  <a:pt x="21902" y="75941"/>
                </a:moveTo>
                <a:cubicBezTo>
                  <a:pt x="26322" y="45033"/>
                  <a:pt x="52943" y="21270"/>
                  <a:pt x="85080" y="21270"/>
                </a:cubicBezTo>
                <a:cubicBezTo>
                  <a:pt x="102695" y="21270"/>
                  <a:pt x="118647" y="28415"/>
                  <a:pt x="130213" y="39948"/>
                </a:cubicBezTo>
                <a:cubicBezTo>
                  <a:pt x="130279" y="40014"/>
                  <a:pt x="130346" y="40081"/>
                  <a:pt x="130412" y="40147"/>
                </a:cubicBezTo>
                <a:lnTo>
                  <a:pt x="132938" y="42540"/>
                </a:lnTo>
                <a:lnTo>
                  <a:pt x="117019" y="42540"/>
                </a:lnTo>
                <a:cubicBezTo>
                  <a:pt x="111136" y="42540"/>
                  <a:pt x="106384" y="47293"/>
                  <a:pt x="106384" y="53175"/>
                </a:cubicBezTo>
                <a:cubicBezTo>
                  <a:pt x="106384" y="59058"/>
                  <a:pt x="111136" y="63810"/>
                  <a:pt x="117019" y="63810"/>
                </a:cubicBezTo>
                <a:lnTo>
                  <a:pt x="159559" y="63810"/>
                </a:lnTo>
                <a:cubicBezTo>
                  <a:pt x="165441" y="63810"/>
                  <a:pt x="170194" y="59058"/>
                  <a:pt x="170194" y="53175"/>
                </a:cubicBezTo>
                <a:lnTo>
                  <a:pt x="170194" y="10635"/>
                </a:lnTo>
                <a:cubicBezTo>
                  <a:pt x="170194" y="4753"/>
                  <a:pt x="165441" y="0"/>
                  <a:pt x="159559" y="0"/>
                </a:cubicBezTo>
                <a:cubicBezTo>
                  <a:pt x="153676" y="0"/>
                  <a:pt x="148924" y="4753"/>
                  <a:pt x="148924" y="10635"/>
                </a:cubicBezTo>
                <a:lnTo>
                  <a:pt x="148924" y="28382"/>
                </a:lnTo>
                <a:lnTo>
                  <a:pt x="145168" y="24826"/>
                </a:lnTo>
                <a:cubicBezTo>
                  <a:pt x="129781" y="9505"/>
                  <a:pt x="108511" y="0"/>
                  <a:pt x="85080" y="0"/>
                </a:cubicBezTo>
                <a:cubicBezTo>
                  <a:pt x="42208" y="0"/>
                  <a:pt x="6747" y="31706"/>
                  <a:pt x="864" y="72950"/>
                </a:cubicBezTo>
                <a:cubicBezTo>
                  <a:pt x="33" y="78766"/>
                  <a:pt x="4055" y="84150"/>
                  <a:pt x="9871" y="84981"/>
                </a:cubicBezTo>
                <a:cubicBezTo>
                  <a:pt x="15687" y="85811"/>
                  <a:pt x="21071" y="81757"/>
                  <a:pt x="21902" y="75974"/>
                </a:cubicBezTo>
                <a:close/>
                <a:moveTo>
                  <a:pt x="169296" y="97211"/>
                </a:moveTo>
                <a:cubicBezTo>
                  <a:pt x="170127" y="91395"/>
                  <a:pt x="166073" y="86011"/>
                  <a:pt x="160290" y="85180"/>
                </a:cubicBezTo>
                <a:cubicBezTo>
                  <a:pt x="154507" y="84349"/>
                  <a:pt x="149090" y="88404"/>
                  <a:pt x="148259" y="94186"/>
                </a:cubicBezTo>
                <a:cubicBezTo>
                  <a:pt x="143839" y="125095"/>
                  <a:pt x="117218" y="148857"/>
                  <a:pt x="85080" y="148857"/>
                </a:cubicBezTo>
                <a:cubicBezTo>
                  <a:pt x="67466" y="148857"/>
                  <a:pt x="51513" y="141712"/>
                  <a:pt x="39948" y="130179"/>
                </a:cubicBezTo>
                <a:cubicBezTo>
                  <a:pt x="39881" y="130113"/>
                  <a:pt x="39815" y="130046"/>
                  <a:pt x="39748" y="129980"/>
                </a:cubicBezTo>
                <a:lnTo>
                  <a:pt x="37223" y="127587"/>
                </a:lnTo>
                <a:lnTo>
                  <a:pt x="53142" y="127587"/>
                </a:lnTo>
                <a:cubicBezTo>
                  <a:pt x="59024" y="127587"/>
                  <a:pt x="63777" y="122835"/>
                  <a:pt x="63777" y="116952"/>
                </a:cubicBezTo>
                <a:cubicBezTo>
                  <a:pt x="63777" y="111070"/>
                  <a:pt x="59024" y="106317"/>
                  <a:pt x="53142" y="106317"/>
                </a:cubicBezTo>
                <a:lnTo>
                  <a:pt x="10635" y="106350"/>
                </a:lnTo>
                <a:cubicBezTo>
                  <a:pt x="7810" y="106350"/>
                  <a:pt x="5085" y="107480"/>
                  <a:pt x="3091" y="109508"/>
                </a:cubicBezTo>
                <a:cubicBezTo>
                  <a:pt x="1097" y="111535"/>
                  <a:pt x="-33" y="114227"/>
                  <a:pt x="0" y="117085"/>
                </a:cubicBezTo>
                <a:lnTo>
                  <a:pt x="332" y="159293"/>
                </a:lnTo>
                <a:cubicBezTo>
                  <a:pt x="366" y="165175"/>
                  <a:pt x="5185" y="169895"/>
                  <a:pt x="11067" y="169828"/>
                </a:cubicBezTo>
                <a:cubicBezTo>
                  <a:pt x="16950" y="169762"/>
                  <a:pt x="21669" y="164976"/>
                  <a:pt x="21602" y="159093"/>
                </a:cubicBezTo>
                <a:lnTo>
                  <a:pt x="21469" y="141978"/>
                </a:lnTo>
                <a:lnTo>
                  <a:pt x="25026" y="145334"/>
                </a:lnTo>
                <a:cubicBezTo>
                  <a:pt x="40413" y="160655"/>
                  <a:pt x="61650" y="170161"/>
                  <a:pt x="85080" y="170161"/>
                </a:cubicBezTo>
                <a:cubicBezTo>
                  <a:pt x="127953" y="170161"/>
                  <a:pt x="163414" y="138455"/>
                  <a:pt x="169296" y="97211"/>
                </a:cubicBezTo>
                <a:close/>
              </a:path>
            </a:pathLst>
          </a:custGeom>
          <a:solidFill>
            <a:srgbClr val="FDC700"/>
          </a:solidFill>
        </p:spPr>
      </p:sp>
      <p:sp>
        <p:nvSpPr>
          <p:cNvPr id="19" name="Text 17"/>
          <p:cNvSpPr/>
          <p:nvPr/>
        </p:nvSpPr>
        <p:spPr>
          <a:xfrm>
            <a:off x="1063503" y="3598895"/>
            <a:ext cx="4841066" cy="2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 Lab Complexity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3503" y="3905184"/>
            <a:ext cx="4832558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Domain-based environments can be difficult to build manually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63503" y="4211472"/>
            <a:ext cx="4764494" cy="1054995"/>
          </a:xfrm>
          <a:prstGeom prst="roundRect">
            <a:avLst>
              <a:gd name="adj" fmla="val 6452"/>
            </a:avLst>
          </a:prstGeom>
          <a:solidFill>
            <a:srgbClr val="191919"/>
          </a:solidFill>
        </p:spPr>
      </p:sp>
      <p:sp>
        <p:nvSpPr>
          <p:cNvPr id="22" name="Shape 20"/>
          <p:cNvSpPr/>
          <p:nvPr/>
        </p:nvSpPr>
        <p:spPr>
          <a:xfrm>
            <a:off x="1182615" y="4347601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68064" y="0"/>
                </a:moveTo>
                <a:cubicBezTo>
                  <a:pt x="69287" y="0"/>
                  <a:pt x="70510" y="266"/>
                  <a:pt x="71627" y="771"/>
                </a:cubicBezTo>
                <a:lnTo>
                  <a:pt x="121718" y="22015"/>
                </a:lnTo>
                <a:cubicBezTo>
                  <a:pt x="127567" y="24487"/>
                  <a:pt x="131928" y="30257"/>
                  <a:pt x="131901" y="37223"/>
                </a:cubicBezTo>
                <a:cubicBezTo>
                  <a:pt x="131768" y="63597"/>
                  <a:pt x="120920" y="111854"/>
                  <a:pt x="75110" y="133789"/>
                </a:cubicBezTo>
                <a:cubicBezTo>
                  <a:pt x="70670" y="135916"/>
                  <a:pt x="65512" y="135916"/>
                  <a:pt x="61072" y="133789"/>
                </a:cubicBezTo>
                <a:cubicBezTo>
                  <a:pt x="15235" y="111854"/>
                  <a:pt x="4414" y="63597"/>
                  <a:pt x="4281" y="37223"/>
                </a:cubicBezTo>
                <a:cubicBezTo>
                  <a:pt x="4254" y="30257"/>
                  <a:pt x="8614" y="24487"/>
                  <a:pt x="14464" y="22015"/>
                </a:cubicBezTo>
                <a:lnTo>
                  <a:pt x="64528" y="771"/>
                </a:lnTo>
                <a:cubicBezTo>
                  <a:pt x="65645" y="266"/>
                  <a:pt x="66841" y="0"/>
                  <a:pt x="68064" y="0"/>
                </a:cubicBezTo>
                <a:close/>
                <a:moveTo>
                  <a:pt x="68064" y="17761"/>
                </a:moveTo>
                <a:lnTo>
                  <a:pt x="68064" y="118288"/>
                </a:lnTo>
                <a:cubicBezTo>
                  <a:pt x="104755" y="100528"/>
                  <a:pt x="114619" y="61178"/>
                  <a:pt x="114858" y="37621"/>
                </a:cubicBezTo>
                <a:lnTo>
                  <a:pt x="68064" y="17787"/>
                </a:lnTo>
                <a:lnTo>
                  <a:pt x="68064" y="17787"/>
                </a:lnTo>
                <a:close/>
              </a:path>
            </a:pathLst>
          </a:custGeom>
          <a:solidFill>
            <a:srgbClr val="05DF72"/>
          </a:solidFill>
        </p:spPr>
      </p:sp>
      <p:sp>
        <p:nvSpPr>
          <p:cNvPr id="23" name="Text 21"/>
          <p:cNvSpPr/>
          <p:nvPr/>
        </p:nvSpPr>
        <p:spPr>
          <a:xfrm>
            <a:off x="1403824" y="4313569"/>
            <a:ext cx="680642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65599" y="4585826"/>
            <a:ext cx="4619858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Use GOAD as base template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65599" y="4790018"/>
            <a:ext cx="4619858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Limit modifications to deception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65599" y="4994211"/>
            <a:ext cx="4619858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Document configuration steps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84803" y="1263442"/>
            <a:ext cx="5657837" cy="2016402"/>
          </a:xfrm>
          <a:prstGeom prst="roundRect">
            <a:avLst>
              <a:gd name="adj" fmla="val 3376"/>
            </a:avLst>
          </a:prstGeom>
          <a:solidFill>
            <a:srgbClr val="262626"/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9217" y="1437856"/>
            <a:ext cx="408385" cy="408385"/>
          </a:xfrm>
          <a:prstGeom prst="roundRect">
            <a:avLst>
              <a:gd name="adj" fmla="val 16667"/>
            </a:avLst>
          </a:prstGeom>
          <a:solidFill>
            <a:srgbClr val="FF6900">
              <a:alpha val="2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6499599" y="1556969"/>
            <a:ext cx="127620" cy="170161"/>
          </a:xfrm>
          <a:custGeom>
            <a:avLst/>
            <a:gdLst/>
            <a:ahLst/>
            <a:cxnLst/>
            <a:rect l="l" t="t" r="r" b="b"/>
            <a:pathLst>
              <a:path w="127620" h="170161">
                <a:moveTo>
                  <a:pt x="103492" y="10635"/>
                </a:moveTo>
                <a:lnTo>
                  <a:pt x="106350" y="10635"/>
                </a:lnTo>
                <a:cubicBezTo>
                  <a:pt x="118082" y="10635"/>
                  <a:pt x="127620" y="20173"/>
                  <a:pt x="127620" y="31905"/>
                </a:cubicBezTo>
                <a:lnTo>
                  <a:pt x="127620" y="148890"/>
                </a:lnTo>
                <a:cubicBezTo>
                  <a:pt x="127620" y="160622"/>
                  <a:pt x="118082" y="170161"/>
                  <a:pt x="106350" y="170161"/>
                </a:cubicBezTo>
                <a:lnTo>
                  <a:pt x="21270" y="170161"/>
                </a:lnTo>
                <a:cubicBezTo>
                  <a:pt x="9538" y="170161"/>
                  <a:pt x="0" y="160622"/>
                  <a:pt x="0" y="148890"/>
                </a:cubicBezTo>
                <a:lnTo>
                  <a:pt x="0" y="31905"/>
                </a:lnTo>
                <a:cubicBezTo>
                  <a:pt x="0" y="20173"/>
                  <a:pt x="9538" y="10635"/>
                  <a:pt x="21270" y="10635"/>
                </a:cubicBezTo>
                <a:lnTo>
                  <a:pt x="24128" y="10635"/>
                </a:lnTo>
                <a:cubicBezTo>
                  <a:pt x="27784" y="4287"/>
                  <a:pt x="34664" y="0"/>
                  <a:pt x="42540" y="0"/>
                </a:cubicBezTo>
                <a:lnTo>
                  <a:pt x="85080" y="0"/>
                </a:lnTo>
                <a:cubicBezTo>
                  <a:pt x="92957" y="0"/>
                  <a:pt x="99836" y="4287"/>
                  <a:pt x="103492" y="10635"/>
                </a:cubicBezTo>
                <a:close/>
                <a:moveTo>
                  <a:pt x="82421" y="37223"/>
                </a:moveTo>
                <a:cubicBezTo>
                  <a:pt x="86842" y="37223"/>
                  <a:pt x="90398" y="33667"/>
                  <a:pt x="90398" y="29246"/>
                </a:cubicBezTo>
                <a:cubicBezTo>
                  <a:pt x="90398" y="24826"/>
                  <a:pt x="86842" y="21270"/>
                  <a:pt x="82421" y="21270"/>
                </a:cubicBezTo>
                <a:lnTo>
                  <a:pt x="45199" y="21270"/>
                </a:lnTo>
                <a:cubicBezTo>
                  <a:pt x="40779" y="21270"/>
                  <a:pt x="37223" y="24826"/>
                  <a:pt x="37223" y="29246"/>
                </a:cubicBezTo>
                <a:cubicBezTo>
                  <a:pt x="37223" y="33667"/>
                  <a:pt x="40779" y="37223"/>
                  <a:pt x="45199" y="37223"/>
                </a:cubicBezTo>
                <a:lnTo>
                  <a:pt x="82421" y="37223"/>
                </a:lnTo>
                <a:close/>
                <a:moveTo>
                  <a:pt x="42540" y="85080"/>
                </a:moveTo>
                <a:cubicBezTo>
                  <a:pt x="42540" y="79211"/>
                  <a:pt x="37775" y="74445"/>
                  <a:pt x="31905" y="74445"/>
                </a:cubicBezTo>
                <a:cubicBezTo>
                  <a:pt x="26035" y="74445"/>
                  <a:pt x="21270" y="79211"/>
                  <a:pt x="21270" y="85080"/>
                </a:cubicBezTo>
                <a:cubicBezTo>
                  <a:pt x="21270" y="90950"/>
                  <a:pt x="26035" y="95715"/>
                  <a:pt x="31905" y="95715"/>
                </a:cubicBezTo>
                <a:cubicBezTo>
                  <a:pt x="37775" y="95715"/>
                  <a:pt x="42540" y="90950"/>
                  <a:pt x="42540" y="85080"/>
                </a:cubicBezTo>
                <a:close/>
                <a:moveTo>
                  <a:pt x="53175" y="85080"/>
                </a:moveTo>
                <a:cubicBezTo>
                  <a:pt x="53175" y="89500"/>
                  <a:pt x="56731" y="93057"/>
                  <a:pt x="61151" y="93057"/>
                </a:cubicBezTo>
                <a:lnTo>
                  <a:pt x="98374" y="93057"/>
                </a:lnTo>
                <a:cubicBezTo>
                  <a:pt x="102794" y="93057"/>
                  <a:pt x="106350" y="89500"/>
                  <a:pt x="106350" y="85080"/>
                </a:cubicBezTo>
                <a:cubicBezTo>
                  <a:pt x="106350" y="80660"/>
                  <a:pt x="102794" y="77104"/>
                  <a:pt x="98374" y="77104"/>
                </a:cubicBezTo>
                <a:lnTo>
                  <a:pt x="61151" y="77104"/>
                </a:lnTo>
                <a:cubicBezTo>
                  <a:pt x="56731" y="77104"/>
                  <a:pt x="53175" y="80660"/>
                  <a:pt x="53175" y="85080"/>
                </a:cubicBezTo>
                <a:close/>
                <a:moveTo>
                  <a:pt x="53175" y="127620"/>
                </a:moveTo>
                <a:cubicBezTo>
                  <a:pt x="53175" y="132041"/>
                  <a:pt x="56731" y="135597"/>
                  <a:pt x="61151" y="135597"/>
                </a:cubicBezTo>
                <a:lnTo>
                  <a:pt x="98374" y="135597"/>
                </a:lnTo>
                <a:cubicBezTo>
                  <a:pt x="102794" y="135597"/>
                  <a:pt x="106350" y="132041"/>
                  <a:pt x="106350" y="127620"/>
                </a:cubicBezTo>
                <a:cubicBezTo>
                  <a:pt x="106350" y="123200"/>
                  <a:pt x="102794" y="119644"/>
                  <a:pt x="98374" y="119644"/>
                </a:cubicBezTo>
                <a:lnTo>
                  <a:pt x="61151" y="119644"/>
                </a:lnTo>
                <a:cubicBezTo>
                  <a:pt x="56731" y="119644"/>
                  <a:pt x="53175" y="123200"/>
                  <a:pt x="53175" y="127620"/>
                </a:cubicBezTo>
                <a:close/>
                <a:moveTo>
                  <a:pt x="31905" y="138255"/>
                </a:moveTo>
                <a:cubicBezTo>
                  <a:pt x="37775" y="138255"/>
                  <a:pt x="42540" y="133490"/>
                  <a:pt x="42540" y="127620"/>
                </a:cubicBezTo>
                <a:cubicBezTo>
                  <a:pt x="42540" y="121751"/>
                  <a:pt x="37775" y="116985"/>
                  <a:pt x="31905" y="116985"/>
                </a:cubicBezTo>
                <a:cubicBezTo>
                  <a:pt x="26035" y="116985"/>
                  <a:pt x="21270" y="121751"/>
                  <a:pt x="21270" y="127620"/>
                </a:cubicBezTo>
                <a:cubicBezTo>
                  <a:pt x="21270" y="133490"/>
                  <a:pt x="26035" y="138255"/>
                  <a:pt x="31905" y="138255"/>
                </a:cubicBezTo>
                <a:close/>
              </a:path>
            </a:pathLst>
          </a:custGeom>
          <a:solidFill>
            <a:srgbClr val="FF8904"/>
          </a:solidFill>
        </p:spPr>
      </p:sp>
      <p:sp>
        <p:nvSpPr>
          <p:cNvPr id="30" name="Text 28"/>
          <p:cNvSpPr/>
          <p:nvPr/>
        </p:nvSpPr>
        <p:spPr>
          <a:xfrm>
            <a:off x="6903731" y="1437856"/>
            <a:ext cx="4841066" cy="2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Logging Scope Management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03731" y="1744145"/>
            <a:ext cx="4832558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Centralized telemetry can become overwhelming if scope is too broad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03731" y="2050434"/>
            <a:ext cx="4764494" cy="1054995"/>
          </a:xfrm>
          <a:prstGeom prst="roundRect">
            <a:avLst>
              <a:gd name="adj" fmla="val 6452"/>
            </a:avLst>
          </a:prstGeom>
          <a:solidFill>
            <a:srgbClr val="191919"/>
          </a:solidFill>
        </p:spPr>
      </p:sp>
      <p:sp>
        <p:nvSpPr>
          <p:cNvPr id="33" name="Shape 31"/>
          <p:cNvSpPr/>
          <p:nvPr/>
        </p:nvSpPr>
        <p:spPr>
          <a:xfrm>
            <a:off x="7022843" y="2186562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68064" y="0"/>
                </a:moveTo>
                <a:cubicBezTo>
                  <a:pt x="69287" y="0"/>
                  <a:pt x="70510" y="266"/>
                  <a:pt x="71627" y="771"/>
                </a:cubicBezTo>
                <a:lnTo>
                  <a:pt x="121718" y="22015"/>
                </a:lnTo>
                <a:cubicBezTo>
                  <a:pt x="127567" y="24487"/>
                  <a:pt x="131928" y="30257"/>
                  <a:pt x="131901" y="37223"/>
                </a:cubicBezTo>
                <a:cubicBezTo>
                  <a:pt x="131768" y="63597"/>
                  <a:pt x="120920" y="111854"/>
                  <a:pt x="75110" y="133789"/>
                </a:cubicBezTo>
                <a:cubicBezTo>
                  <a:pt x="70670" y="135916"/>
                  <a:pt x="65512" y="135916"/>
                  <a:pt x="61072" y="133789"/>
                </a:cubicBezTo>
                <a:cubicBezTo>
                  <a:pt x="15235" y="111854"/>
                  <a:pt x="4414" y="63597"/>
                  <a:pt x="4281" y="37223"/>
                </a:cubicBezTo>
                <a:cubicBezTo>
                  <a:pt x="4254" y="30257"/>
                  <a:pt x="8614" y="24487"/>
                  <a:pt x="14464" y="22015"/>
                </a:cubicBezTo>
                <a:lnTo>
                  <a:pt x="64528" y="771"/>
                </a:lnTo>
                <a:cubicBezTo>
                  <a:pt x="65645" y="266"/>
                  <a:pt x="66841" y="0"/>
                  <a:pt x="68064" y="0"/>
                </a:cubicBezTo>
                <a:close/>
                <a:moveTo>
                  <a:pt x="68064" y="17761"/>
                </a:moveTo>
                <a:lnTo>
                  <a:pt x="68064" y="118288"/>
                </a:lnTo>
                <a:cubicBezTo>
                  <a:pt x="104755" y="100528"/>
                  <a:pt x="114619" y="61178"/>
                  <a:pt x="114858" y="37621"/>
                </a:cubicBezTo>
                <a:lnTo>
                  <a:pt x="68064" y="17787"/>
                </a:lnTo>
                <a:lnTo>
                  <a:pt x="68064" y="17787"/>
                </a:lnTo>
                <a:close/>
              </a:path>
            </a:pathLst>
          </a:custGeom>
          <a:solidFill>
            <a:srgbClr val="05DF72"/>
          </a:solidFill>
        </p:spPr>
      </p:sp>
      <p:sp>
        <p:nvSpPr>
          <p:cNvPr id="34" name="Text 32"/>
          <p:cNvSpPr/>
          <p:nvPr/>
        </p:nvSpPr>
        <p:spPr>
          <a:xfrm>
            <a:off x="7244052" y="2152530"/>
            <a:ext cx="680642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05827" y="2424787"/>
            <a:ext cx="4619858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Collect only metrics-relevant logs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05827" y="2628980"/>
            <a:ext cx="4619858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Focus on 3 behavioural indicators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05827" y="2833172"/>
            <a:ext cx="4619858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Use lightweight processing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84803" y="3424480"/>
            <a:ext cx="5657837" cy="2016402"/>
          </a:xfrm>
          <a:prstGeom prst="roundRect">
            <a:avLst>
              <a:gd name="adj" fmla="val 3376"/>
            </a:avLst>
          </a:prstGeom>
          <a:solidFill>
            <a:srgbClr val="262626"/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9217" y="3598895"/>
            <a:ext cx="408385" cy="408385"/>
          </a:xfrm>
          <a:prstGeom prst="roundRect">
            <a:avLst>
              <a:gd name="adj" fmla="val 16667"/>
            </a:avLst>
          </a:prstGeom>
          <a:solidFill>
            <a:srgbClr val="2B7FFF">
              <a:alpha val="2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6478329" y="3718007"/>
            <a:ext cx="170161" cy="170161"/>
          </a:xfrm>
          <a:custGeom>
            <a:avLst/>
            <a:gdLst/>
            <a:ahLst/>
            <a:cxnLst/>
            <a:rect l="l" t="t" r="r" b="b"/>
            <a:pathLst>
              <a:path w="170161" h="170161">
                <a:moveTo>
                  <a:pt x="145135" y="24826"/>
                </a:moveTo>
                <a:lnTo>
                  <a:pt x="148890" y="28382"/>
                </a:lnTo>
                <a:lnTo>
                  <a:pt x="148890" y="10635"/>
                </a:lnTo>
                <a:cubicBezTo>
                  <a:pt x="148890" y="4753"/>
                  <a:pt x="153643" y="0"/>
                  <a:pt x="159525" y="0"/>
                </a:cubicBezTo>
                <a:cubicBezTo>
                  <a:pt x="165408" y="0"/>
                  <a:pt x="170161" y="4753"/>
                  <a:pt x="170161" y="10635"/>
                </a:cubicBezTo>
                <a:lnTo>
                  <a:pt x="170161" y="53175"/>
                </a:lnTo>
                <a:cubicBezTo>
                  <a:pt x="170161" y="59058"/>
                  <a:pt x="165408" y="63810"/>
                  <a:pt x="159525" y="63810"/>
                </a:cubicBezTo>
                <a:lnTo>
                  <a:pt x="116985" y="63810"/>
                </a:lnTo>
                <a:cubicBezTo>
                  <a:pt x="111103" y="63810"/>
                  <a:pt x="106350" y="59058"/>
                  <a:pt x="106350" y="53175"/>
                </a:cubicBezTo>
                <a:cubicBezTo>
                  <a:pt x="106350" y="47293"/>
                  <a:pt x="111103" y="42540"/>
                  <a:pt x="116985" y="42540"/>
                </a:cubicBezTo>
                <a:lnTo>
                  <a:pt x="132905" y="42540"/>
                </a:lnTo>
                <a:lnTo>
                  <a:pt x="130379" y="40147"/>
                </a:lnTo>
                <a:cubicBezTo>
                  <a:pt x="130312" y="40081"/>
                  <a:pt x="130246" y="40014"/>
                  <a:pt x="130179" y="39948"/>
                </a:cubicBezTo>
                <a:cubicBezTo>
                  <a:pt x="105254" y="15022"/>
                  <a:pt x="64874" y="15022"/>
                  <a:pt x="39948" y="39948"/>
                </a:cubicBezTo>
                <a:cubicBezTo>
                  <a:pt x="15022" y="64874"/>
                  <a:pt x="15022" y="105254"/>
                  <a:pt x="39948" y="130179"/>
                </a:cubicBezTo>
                <a:cubicBezTo>
                  <a:pt x="64874" y="155105"/>
                  <a:pt x="105254" y="155105"/>
                  <a:pt x="130179" y="130179"/>
                </a:cubicBezTo>
                <a:cubicBezTo>
                  <a:pt x="132905" y="127454"/>
                  <a:pt x="135331" y="124563"/>
                  <a:pt x="137458" y="121505"/>
                </a:cubicBezTo>
                <a:cubicBezTo>
                  <a:pt x="140814" y="116686"/>
                  <a:pt x="147461" y="115523"/>
                  <a:pt x="152280" y="118880"/>
                </a:cubicBezTo>
                <a:cubicBezTo>
                  <a:pt x="157099" y="122236"/>
                  <a:pt x="158263" y="128883"/>
                  <a:pt x="154906" y="133702"/>
                </a:cubicBezTo>
                <a:cubicBezTo>
                  <a:pt x="152081" y="137757"/>
                  <a:pt x="148857" y="141612"/>
                  <a:pt x="145235" y="145235"/>
                </a:cubicBezTo>
                <a:cubicBezTo>
                  <a:pt x="112000" y="178469"/>
                  <a:pt x="58127" y="178469"/>
                  <a:pt x="24926" y="145235"/>
                </a:cubicBezTo>
                <a:cubicBezTo>
                  <a:pt x="-8275" y="112000"/>
                  <a:pt x="-8309" y="58160"/>
                  <a:pt x="24926" y="24926"/>
                </a:cubicBezTo>
                <a:cubicBezTo>
                  <a:pt x="58127" y="-8275"/>
                  <a:pt x="111900" y="-8309"/>
                  <a:pt x="145135" y="24826"/>
                </a:cubicBezTo>
                <a:close/>
              </a:path>
            </a:pathLst>
          </a:custGeom>
          <a:solidFill>
            <a:srgbClr val="51A2FF"/>
          </a:solidFill>
        </p:spPr>
      </p:sp>
      <p:sp>
        <p:nvSpPr>
          <p:cNvPr id="41" name="Text 39"/>
          <p:cNvSpPr/>
          <p:nvPr/>
        </p:nvSpPr>
        <p:spPr>
          <a:xfrm>
            <a:off x="6903731" y="3598895"/>
            <a:ext cx="4841066" cy="2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Experiment Reproducibility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03731" y="3905184"/>
            <a:ext cx="4832558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Without reset capability, repeated tests may become inconsistent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03731" y="4211472"/>
            <a:ext cx="4764494" cy="1054995"/>
          </a:xfrm>
          <a:prstGeom prst="roundRect">
            <a:avLst>
              <a:gd name="adj" fmla="val 6452"/>
            </a:avLst>
          </a:prstGeom>
          <a:solidFill>
            <a:srgbClr val="191919"/>
          </a:solidFill>
        </p:spPr>
      </p:sp>
      <p:sp>
        <p:nvSpPr>
          <p:cNvPr id="44" name="Shape 42"/>
          <p:cNvSpPr/>
          <p:nvPr/>
        </p:nvSpPr>
        <p:spPr>
          <a:xfrm>
            <a:off x="7022843" y="4347601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68064" y="0"/>
                </a:moveTo>
                <a:cubicBezTo>
                  <a:pt x="69287" y="0"/>
                  <a:pt x="70510" y="266"/>
                  <a:pt x="71627" y="771"/>
                </a:cubicBezTo>
                <a:lnTo>
                  <a:pt x="121718" y="22015"/>
                </a:lnTo>
                <a:cubicBezTo>
                  <a:pt x="127567" y="24487"/>
                  <a:pt x="131928" y="30257"/>
                  <a:pt x="131901" y="37223"/>
                </a:cubicBezTo>
                <a:cubicBezTo>
                  <a:pt x="131768" y="63597"/>
                  <a:pt x="120920" y="111854"/>
                  <a:pt x="75110" y="133789"/>
                </a:cubicBezTo>
                <a:cubicBezTo>
                  <a:pt x="70670" y="135916"/>
                  <a:pt x="65512" y="135916"/>
                  <a:pt x="61072" y="133789"/>
                </a:cubicBezTo>
                <a:cubicBezTo>
                  <a:pt x="15235" y="111854"/>
                  <a:pt x="4414" y="63597"/>
                  <a:pt x="4281" y="37223"/>
                </a:cubicBezTo>
                <a:cubicBezTo>
                  <a:pt x="4254" y="30257"/>
                  <a:pt x="8614" y="24487"/>
                  <a:pt x="14464" y="22015"/>
                </a:cubicBezTo>
                <a:lnTo>
                  <a:pt x="64528" y="771"/>
                </a:lnTo>
                <a:cubicBezTo>
                  <a:pt x="65645" y="266"/>
                  <a:pt x="66841" y="0"/>
                  <a:pt x="68064" y="0"/>
                </a:cubicBezTo>
                <a:close/>
                <a:moveTo>
                  <a:pt x="68064" y="17761"/>
                </a:moveTo>
                <a:lnTo>
                  <a:pt x="68064" y="118288"/>
                </a:lnTo>
                <a:cubicBezTo>
                  <a:pt x="104755" y="100528"/>
                  <a:pt x="114619" y="61178"/>
                  <a:pt x="114858" y="37621"/>
                </a:cubicBezTo>
                <a:lnTo>
                  <a:pt x="68064" y="17787"/>
                </a:lnTo>
                <a:lnTo>
                  <a:pt x="68064" y="17787"/>
                </a:lnTo>
                <a:close/>
              </a:path>
            </a:pathLst>
          </a:custGeom>
          <a:solidFill>
            <a:srgbClr val="05DF72"/>
          </a:solidFill>
        </p:spPr>
      </p:sp>
      <p:sp>
        <p:nvSpPr>
          <p:cNvPr id="45" name="Text 43"/>
          <p:cNvSpPr/>
          <p:nvPr/>
        </p:nvSpPr>
        <p:spPr>
          <a:xfrm>
            <a:off x="7244052" y="4313569"/>
            <a:ext cx="680642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05827" y="4585826"/>
            <a:ext cx="4619858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Proxmox snapshots as core workflow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005827" y="4790018"/>
            <a:ext cx="4619858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Clean + experiment-ready states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005827" y="4994211"/>
            <a:ext cx="4619858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Documented reset procedures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44575" y="5585518"/>
            <a:ext cx="11502850" cy="723182"/>
          </a:xfrm>
          <a:prstGeom prst="roundRect">
            <a:avLst>
              <a:gd name="adj" fmla="val 9412"/>
            </a:avLst>
          </a:prstGeom>
          <a:solidFill>
            <a:srgbClr val="00C950">
              <a:alpha val="10196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0482" y="5845013"/>
            <a:ext cx="204193" cy="204193"/>
          </a:xfrm>
          <a:custGeom>
            <a:avLst/>
            <a:gdLst/>
            <a:ahLst/>
            <a:cxnLst/>
            <a:rect l="l" t="t" r="r" b="b"/>
            <a:pathLst>
              <a:path w="204193" h="204193">
                <a:moveTo>
                  <a:pt x="102096" y="204193"/>
                </a:moveTo>
                <a:cubicBezTo>
                  <a:pt x="158445" y="204193"/>
                  <a:pt x="204193" y="158445"/>
                  <a:pt x="204193" y="102096"/>
                </a:cubicBezTo>
                <a:cubicBezTo>
                  <a:pt x="204193" y="45748"/>
                  <a:pt x="158445" y="0"/>
                  <a:pt x="102096" y="0"/>
                </a:cubicBezTo>
                <a:cubicBezTo>
                  <a:pt x="45748" y="0"/>
                  <a:pt x="0" y="45748"/>
                  <a:pt x="0" y="102096"/>
                </a:cubicBezTo>
                <a:cubicBezTo>
                  <a:pt x="0" y="158445"/>
                  <a:pt x="45748" y="204193"/>
                  <a:pt x="102096" y="204193"/>
                </a:cubicBezTo>
                <a:close/>
                <a:moveTo>
                  <a:pt x="135756" y="84828"/>
                </a:moveTo>
                <a:lnTo>
                  <a:pt x="103851" y="135876"/>
                </a:lnTo>
                <a:cubicBezTo>
                  <a:pt x="102176" y="138548"/>
                  <a:pt x="99305" y="140223"/>
                  <a:pt x="96154" y="140382"/>
                </a:cubicBezTo>
                <a:cubicBezTo>
                  <a:pt x="93003" y="140542"/>
                  <a:pt x="89972" y="139106"/>
                  <a:pt x="88098" y="136554"/>
                </a:cubicBezTo>
                <a:lnTo>
                  <a:pt x="68955" y="111030"/>
                </a:lnTo>
                <a:cubicBezTo>
                  <a:pt x="65764" y="106802"/>
                  <a:pt x="66642" y="100820"/>
                  <a:pt x="70869" y="97630"/>
                </a:cubicBezTo>
                <a:cubicBezTo>
                  <a:pt x="75097" y="94439"/>
                  <a:pt x="81079" y="95316"/>
                  <a:pt x="84269" y="99544"/>
                </a:cubicBezTo>
                <a:lnTo>
                  <a:pt x="95037" y="113901"/>
                </a:lnTo>
                <a:lnTo>
                  <a:pt x="119524" y="74698"/>
                </a:lnTo>
                <a:cubicBezTo>
                  <a:pt x="122316" y="70231"/>
                  <a:pt x="128219" y="68835"/>
                  <a:pt x="132725" y="71667"/>
                </a:cubicBezTo>
                <a:cubicBezTo>
                  <a:pt x="137232" y="74498"/>
                  <a:pt x="138588" y="80361"/>
                  <a:pt x="135756" y="84868"/>
                </a:cubicBezTo>
                <a:close/>
              </a:path>
            </a:pathLst>
          </a:custGeom>
          <a:solidFill>
            <a:srgbClr val="05DF72"/>
          </a:solidFill>
        </p:spPr>
      </p:sp>
      <p:sp>
        <p:nvSpPr>
          <p:cNvPr id="51" name="Text 49"/>
          <p:cNvSpPr/>
          <p:nvPr/>
        </p:nvSpPr>
        <p:spPr>
          <a:xfrm>
            <a:off x="842294" y="5725901"/>
            <a:ext cx="6449083" cy="2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All Risks Manageable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2294" y="5964126"/>
            <a:ext cx="6440575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Mitigation strategies in place. Project remains feasible within capstone timeframe and resource constraints.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dribbble.com/35332c177ccdf23b305ff7b66d2ca8f6d2cb3a2d.png"/>
          <p:cNvPicPr>
            <a:picLocks noChangeAspect="1"/>
          </p:cNvPicPr>
          <p:nvPr/>
        </p:nvPicPr>
        <p:blipFill>
          <a:blip r:embed="rId1">
            <a:alphaModFix amt="20000"/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191919">
                  <a:alpha val="9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4806553" y="21431"/>
            <a:ext cx="2581275" cy="390525"/>
          </a:xfrm>
          <a:prstGeom prst="roundRect">
            <a:avLst>
              <a:gd name="adj" fmla="val 19512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925616" y="107156"/>
            <a:ext cx="2340769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6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STATUS: ON TRACK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87800" y="645319"/>
            <a:ext cx="50196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Next Steps &amp; Questions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1254919"/>
            <a:ext cx="1219200" cy="38100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8" name="Shape 5"/>
          <p:cNvSpPr/>
          <p:nvPr/>
        </p:nvSpPr>
        <p:spPr>
          <a:xfrm>
            <a:off x="3238277" y="1831181"/>
            <a:ext cx="5715000" cy="1543050"/>
          </a:xfrm>
          <a:prstGeom prst="roundRect">
            <a:avLst>
              <a:gd name="adj" fmla="val 4938"/>
            </a:avLst>
          </a:prstGeom>
          <a:solidFill>
            <a:srgbClr val="26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14489" y="2064544"/>
            <a:ext cx="53625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Immediate Next Step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424014" y="2521744"/>
            <a:ext cx="5343525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Begin </a:t>
            </a:r>
            <a:r>
              <a:rPr lang="en-US" sz="1500" dirty="0">
                <a:solidFill>
                  <a:srgbClr val="6366F1"/>
                </a:solidFill>
                <a:highlight>
                  <a:srgbClr val="6366F1">
                    <a:alpha val="30000"/>
                  </a:srgbClr>
                </a:highligh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Milestone 4: Network Honeypot Deployment </a:t>
            </a:r>
            <a:r>
              <a:rPr lang="en-US" sz="15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 Week 5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433539" y="2907506"/>
            <a:ext cx="5324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T-Pot CE configuration, service banner tuning, credential seeding (35 hours)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38277" y="3607594"/>
            <a:ext cx="1800225" cy="1000125"/>
          </a:xfrm>
          <a:prstGeom prst="roundRect">
            <a:avLst>
              <a:gd name="adj" fmla="val 7619"/>
            </a:avLst>
          </a:prstGeom>
          <a:solidFill>
            <a:srgbClr val="26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09714" y="3764756"/>
            <a:ext cx="16573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357339" y="4221956"/>
            <a:ext cx="156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197376" y="3607594"/>
            <a:ext cx="1800225" cy="1000125"/>
          </a:xfrm>
          <a:prstGeom prst="roundRect">
            <a:avLst>
              <a:gd name="adj" fmla="val 7619"/>
            </a:avLst>
          </a:prstGeom>
          <a:solidFill>
            <a:srgbClr val="26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68813" y="3764756"/>
            <a:ext cx="16573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16438" y="4221956"/>
            <a:ext cx="156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Weeks Remaining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156475" y="3607594"/>
            <a:ext cx="1800225" cy="1000125"/>
          </a:xfrm>
          <a:prstGeom prst="roundRect">
            <a:avLst>
              <a:gd name="adj" fmla="val 7619"/>
            </a:avLst>
          </a:prstGeom>
          <a:solidFill>
            <a:srgbClr val="26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27912" y="3764756"/>
            <a:ext cx="16573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220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275537" y="4221956"/>
            <a:ext cx="156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Hours Planned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238277" y="4845844"/>
            <a:ext cx="5715000" cy="1038225"/>
          </a:xfrm>
          <a:prstGeom prst="roundRect">
            <a:avLst>
              <a:gd name="adj" fmla="val 7339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0" scaled="1"/>
          </a:gra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4014" y="5079206"/>
            <a:ext cx="534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on track for Week 12 completion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433539" y="5422106"/>
            <a:ext cx="5324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All milestones achievable within allocated learning hours and timeline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793977" y="6193631"/>
            <a:ext cx="26003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808265" y="6574631"/>
            <a:ext cx="2571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Open for feedback and questions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8046</Words>
  <Application>WPS 演示</Application>
  <PresentationFormat>On-screen Show (16:9)</PresentationFormat>
  <Paragraphs>788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SimSun</vt:lpstr>
      <vt:lpstr>Wingdings</vt:lpstr>
      <vt:lpstr>Liter</vt:lpstr>
      <vt:lpstr>Liter</vt:lpstr>
      <vt:lpstr>Liter</vt:lpstr>
      <vt:lpstr>Calibri</vt:lpstr>
      <vt:lpstr>Helvetica Neue</vt:lpstr>
      <vt:lpstr>Microsoft YaHei</vt:lpstr>
      <vt:lpstr>汉仪旗黑</vt:lpstr>
      <vt:lpstr>SimSun</vt:lpstr>
      <vt:lpstr>Arial Unicode MS</vt:lpstr>
      <vt:lpstr>等线</vt:lpstr>
      <vt:lpstr>汉仪中等线KW</vt:lpstr>
      <vt:lpstr>汉仪书宋二KW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Progress Report</dc:title>
  <dc:creator>Kimi</dc:creator>
  <dc:subject>Capstone Project Progress Report</dc:subject>
  <cp:lastModifiedBy>WPS_1773473102</cp:lastModifiedBy>
  <cp:revision>2</cp:revision>
  <dcterms:created xsi:type="dcterms:W3CDTF">2026-04-21T06:55:30Z</dcterms:created>
  <dcterms:modified xsi:type="dcterms:W3CDTF">2026-04-21T06:55:30Z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{"Label":"Capstone Project Progress Report","ContentProducer":"001191110108MACG2KBH8F10000","ProduceID":"19daebf2-be82-8f6b-8000-0000c707eff6","ReservedCode1":"","ContentPropagator":"001191110108MACG2KBH8F20000","PropagateID":"19daebf2-be82-8f6b-8000-0000c707eff6","ReservedCode2":""}</vt:lpwstr>
  </property>
  <property fmtid="{D5CDD505-2E9C-101B-9397-08002B2CF9AE}" pid="3" name="KSOProductBuildVer">
    <vt:lpwstr>2052-12.1.25205.25205</vt:lpwstr>
  </property>
  <property fmtid="{D5CDD505-2E9C-101B-9397-08002B2CF9AE}" pid="4" name="ICV">
    <vt:lpwstr>683FBC781FF8DCE0621FE7693B1A2336_43</vt:lpwstr>
  </property>
</Properties>
</file>